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7" r:id="rId29"/>
    <p:sldId id="280" r:id="rId30"/>
    <p:sldId id="279" r:id="rId31"/>
    <p:sldId id="281" r:id="rId32"/>
    <p:sldId id="278" r:id="rId33"/>
    <p:sldId id="282" r:id="rId34"/>
    <p:sldId id="283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2DACCF-75A8-5965-A63B-E4B3D2545305}" v="29" dt="2026-08-04T00:34:27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66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b799df74d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8626"/>
            <a:ext cx="12191695" cy="6858000"/>
          </a:xfrm>
          <a:prstGeom prst="rect">
            <a:avLst/>
          </a:prstGeom>
          <a:solidFill>
            <a:srgbClr val="071A2E">
              <a:alpha val="72000"/>
            </a:srgbClr>
          </a:solidFill>
          <a:ln w="12700">
            <a:solidFill>
              <a:srgbClr val="071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Shape 1"/>
          <p:cNvSpPr/>
          <p:nvPr/>
        </p:nvSpPr>
        <p:spPr>
          <a:xfrm>
            <a:off x="640080" y="868680"/>
            <a:ext cx="6629400" cy="4434840"/>
          </a:xfrm>
          <a:prstGeom prst="roundRect">
            <a:avLst/>
          </a:prstGeom>
          <a:solidFill>
            <a:srgbClr val="071A2E">
              <a:alpha val="88000"/>
            </a:srgbClr>
          </a:solidFill>
          <a:ln w="17780">
            <a:solidFill>
              <a:srgbClr val="16C7E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2"/>
          <p:cNvSpPr/>
          <p:nvPr/>
        </p:nvSpPr>
        <p:spPr>
          <a:xfrm>
            <a:off x="960120" y="123444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MOTOR DE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SCORING CREDITICIO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987552" y="3090672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DDEEFF"/>
                </a:solidFill>
              </a:rPr>
              <a:t>Arquitectura</a:t>
            </a:r>
            <a:r>
              <a:rPr lang="en-US" sz="1700" dirty="0">
                <a:solidFill>
                  <a:srgbClr val="DDEEFF"/>
                </a:solidFill>
              </a:rPr>
              <a:t> Hexagonal + Spring Boot + H2 / MongoDB</a:t>
            </a:r>
            <a:endParaRPr lang="en-US" sz="1700" dirty="0">
              <a:solidFill>
                <a:srgbClr val="000000"/>
              </a:solidFill>
            </a:endParaRPr>
          </a:p>
          <a:p>
            <a:endParaRPr lang="en-US" sz="1700" dirty="0">
              <a:solidFill>
                <a:srgbClr val="DDEEFF"/>
              </a:solidFill>
            </a:endParaRPr>
          </a:p>
          <a:p>
            <a:r>
              <a:rPr lang="en-US" sz="1700" dirty="0">
                <a:solidFill>
                  <a:srgbClr val="DDEEFF"/>
                </a:solidFill>
              </a:rPr>
              <a:t>José Julca</a:t>
            </a:r>
          </a:p>
          <a:p>
            <a:r>
              <a:rPr lang="en-US" sz="1700" dirty="0">
                <a:solidFill>
                  <a:srgbClr val="DDEEFF"/>
                </a:solidFill>
              </a:rPr>
              <a:t>Jose </a:t>
            </a:r>
            <a:r>
              <a:rPr lang="en-US" sz="1700" dirty="0" err="1">
                <a:solidFill>
                  <a:srgbClr val="DDEEFF"/>
                </a:solidFill>
              </a:rPr>
              <a:t>huaman</a:t>
            </a:r>
            <a:endParaRPr lang="en-US" sz="1700" dirty="0">
              <a:solidFill>
                <a:srgbClr val="DDEEFF"/>
              </a:solidFill>
            </a:endParaRPr>
          </a:p>
          <a:p>
            <a:r>
              <a:rPr lang="en-US" sz="1700" dirty="0">
                <a:solidFill>
                  <a:srgbClr val="DDEEFF"/>
                </a:solidFill>
              </a:rPr>
              <a:t>Jonathan Barrientos</a:t>
            </a:r>
          </a:p>
        </p:txBody>
      </p:sp>
      <p:sp>
        <p:nvSpPr>
          <p:cNvPr id="7" name="Text 4"/>
          <p:cNvSpPr/>
          <p:nvPr/>
        </p:nvSpPr>
        <p:spPr>
          <a:xfrm>
            <a:off x="987552" y="41330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16C7E8"/>
                </a:solidFill>
              </a:rPr>
              <a:t>TECNOLOGÍA   |   ESCALABILIDAD   |   MANTENIBILIDAD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87552" y="4091085"/>
            <a:ext cx="1143000" cy="0"/>
          </a:xfrm>
          <a:prstGeom prst="line">
            <a:avLst/>
          </a:prstGeom>
          <a:noFill/>
          <a:ln w="508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Índice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RUTA DE LA PRESENTACIÓN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438912" cy="438912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704088" y="124358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07592" y="12070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Motor de Scoring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075688"/>
            <a:ext cx="438912" cy="438912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704088" y="21762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07592" y="21396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Arquitectura Hexagonal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008376"/>
            <a:ext cx="438912" cy="438912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704088" y="310896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07592" y="3072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Doble Adaptador: H2 / Mongo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3941064"/>
            <a:ext cx="438912" cy="438912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704088" y="404164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07592" y="4005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Stack Tecnológico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4873752"/>
            <a:ext cx="438912" cy="438912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704088" y="497433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07592" y="4937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Hexagonal vs Onion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55080" y="1143000"/>
            <a:ext cx="438912" cy="438912"/>
          </a:xfrm>
          <a:prstGeom prst="ellipse">
            <a:avLst/>
          </a:prstGeom>
          <a:solidFill>
            <a:srgbClr val="20C9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6373368" y="1243584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76872" y="12070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Componentes Principales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55080" y="2075688"/>
            <a:ext cx="438912" cy="438912"/>
          </a:xfrm>
          <a:prstGeom prst="ellipse">
            <a:avLst/>
          </a:prstGeom>
          <a:solidFill>
            <a:srgbClr val="20C9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6373368" y="217627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76872" y="21396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Flujo de Datos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55080" y="3008376"/>
            <a:ext cx="438912" cy="438912"/>
          </a:xfrm>
          <a:prstGeom prst="ellipse">
            <a:avLst/>
          </a:prstGeom>
          <a:solidFill>
            <a:srgbClr val="20C9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6373368" y="310896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76872" y="3072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Ventajas y Desafíos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55080" y="3941064"/>
            <a:ext cx="438912" cy="438912"/>
          </a:xfrm>
          <a:prstGeom prst="ellipse">
            <a:avLst/>
          </a:prstGeom>
          <a:solidFill>
            <a:srgbClr val="20C9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6373368" y="404164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76872" y="4005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2238"/>
                </a:solidFill>
              </a:rPr>
              <a:t>Demo / Ejemplo Real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un motor de scoring?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CONTEXTO DE NEGOCIO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3383280" cy="4526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64008" cy="452628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795528" y="126187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DEFINICIÓN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1627632"/>
            <a:ext cx="2999232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6B7E"/>
                </a:solidFill>
              </a:rPr>
              <a:t>Sistema que evalúa riesgo crediticio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Calcula puntajes automáticamente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Decide: PREAPROBADA / REVISION_MANUAL / RECHAZADA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Combina múltiples factores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097280"/>
            <a:ext cx="3383280" cy="4526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4343400" y="1097280"/>
            <a:ext cx="64008" cy="4526280"/>
          </a:xfrm>
          <a:prstGeom prst="rect">
            <a:avLst/>
          </a:prstGeom>
          <a:solidFill>
            <a:srgbClr val="8667E8"/>
          </a:solidFill>
          <a:ln w="1270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4544568" y="1261872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FACTORES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4568" y="1627632"/>
            <a:ext cx="2999232" cy="3867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6B7E"/>
                </a:solidFill>
              </a:rPr>
              <a:t>Historial de pagos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Ingresos y gastos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Obligaciones activas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Antigüedad laboral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Alertas de mora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097280"/>
            <a:ext cx="3474720" cy="4526280"/>
          </a:xfrm>
          <a:prstGeom prst="roundRect">
            <a:avLst/>
          </a:prstGeom>
          <a:solidFill>
            <a:srgbClr val="071A2E"/>
          </a:solidFill>
          <a:ln w="12700">
            <a:solidFill>
              <a:srgbClr val="071A2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9052560" y="1600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⚡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549640" y="2788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DECISIONES EN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SEGUNDOS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49640" y="3977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8FF"/>
                </a:solidFill>
              </a:rPr>
              <a:t>Automatización consistente, auditable y escalable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PROYECTO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núcleo de dominio aislado de la infraestructura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246120"/>
          </a:xfrm>
          <a:prstGeom prst="rect">
            <a:avLst/>
          </a:prstGeom>
          <a:solidFill>
            <a:srgbClr val="F4F7FE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Maven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548640" cy="320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una responsabilidad de puerto o adaptador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520440" cy="3246120"/>
          </a:xfrm>
          <a:prstGeom prst="rect">
            <a:avLst/>
          </a:prstGeom>
          <a:solidFill>
            <a:srgbClr val="F4F7FE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663440" y="22860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663440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de salida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63440" y="3840480"/>
            <a:ext cx="548640" cy="320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4663440" y="40233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Repository definidas una única vez en el dominio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965960"/>
            <a:ext cx="3520440" cy="3246120"/>
          </a:xfrm>
          <a:prstGeom prst="rect">
            <a:avLst/>
          </a:prstGeom>
          <a:solidFill>
            <a:srgbClr val="F4F7FE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8503920" y="22860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8503920" y="3337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adaptadores por puerto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503920" y="3840480"/>
            <a:ext cx="548640" cy="3200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8503920" y="40233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H2/JPA y MongoDB, intercambiables sin recompilar el dominio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 ·  Arquitectura Hexagonal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dominio en el centro, los adaptadores afuera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0" y="1481328"/>
            <a:ext cx="3474720" cy="530352"/>
          </a:xfrm>
          <a:prstGeom prst="roundRect">
            <a:avLst>
              <a:gd name="adj" fmla="val 1206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0" y="1481328"/>
            <a:ext cx="3474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 de entrada — REST Controller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72200" y="2048256"/>
            <a:ext cx="274320" cy="237744"/>
          </a:xfrm>
          <a:prstGeom prst="downArrow">
            <a:avLst/>
          </a:prstGeom>
          <a:solidFill>
            <a:srgbClr val="5B648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4937760" y="2286000"/>
            <a:ext cx="2743200" cy="2377440"/>
          </a:xfrm>
          <a:prstGeom prst="hexagon">
            <a:avLst/>
          </a:prstGeom>
          <a:solidFill>
            <a:srgbClr val="1E2761"/>
          </a:solidFill>
          <a:ln w="25400">
            <a:solidFill>
              <a:srgbClr val="141A45"/>
            </a:solidFill>
            <a:prstDash val="solid"/>
          </a:ln>
          <a:effectLst>
            <a:outerShdw blurRad="177800" dist="50800" dir="5400000" algn="bl" rotWithShape="0">
              <a:srgbClr val="1E2761">
                <a:alpha val="2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5029200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3419856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· Value Objects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scoring</a:t>
            </a:r>
            <a:endParaRPr lang="en-US" sz="10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puertos Repository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4617720"/>
            <a:ext cx="274320" cy="384048"/>
          </a:xfrm>
          <a:prstGeom prst="downArrow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001000" y="4617720"/>
            <a:ext cx="274320" cy="384048"/>
          </a:xfrm>
          <a:prstGeom prst="downArrow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640080" y="5074920"/>
            <a:ext cx="2743200" cy="960120"/>
          </a:xfrm>
          <a:prstGeom prst="roundRect">
            <a:avLst>
              <a:gd name="adj" fmla="val 6667"/>
            </a:avLst>
          </a:prstGeom>
          <a:solidFill>
            <a:srgbClr val="F4F7FE"/>
          </a:solidFill>
          <a:ln w="19050">
            <a:solidFill>
              <a:srgbClr val="D98E0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40080" y="5166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H2 / JPA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47725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motor-scoring-infrastructure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h2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778240" y="5074920"/>
            <a:ext cx="2743200" cy="960120"/>
          </a:xfrm>
          <a:prstGeom prst="roundRect">
            <a:avLst>
              <a:gd name="adj" fmla="val 6667"/>
            </a:avLst>
          </a:prstGeom>
          <a:solidFill>
            <a:srgbClr val="F4F7FE"/>
          </a:solidFill>
          <a:ln w="19050">
            <a:solidFill>
              <a:srgbClr val="12A594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8778240" y="51663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A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MongoDB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778240" y="547725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motor-scoring-adapter-out-mongodb</a:t>
            </a:r>
            <a:endParaRPr lang="en-US" sz="1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mongodb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define los puertos una sola vez; cada adaptador los implementa a su manera. Ninguno depende del otro.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 ·  Arquitectura Hexagonal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DETALLADA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completo: módulos, puertos y adaptadores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34794" y="1179576"/>
            <a:ext cx="7722108" cy="5184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F5"/>
            </a:solidFill>
            <a:prstDash val="solid"/>
          </a:ln>
          <a:effectLst>
            <a:outerShdw blurRad="1524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pic>
        <p:nvPicPr>
          <p:cNvPr id="5" name="Image 0" descr="/home/claude/ppt/assets/Diagrama_Arquitectura_Hexag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658" y="1234440"/>
            <a:ext cx="7612380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 ·  Arquitectura Hexagonal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DEL 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módulo Maven, un rol hexagonal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11880" cy="178308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3152" cy="1783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80720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Entidades, VOs y los 5 puertos de salida (Repository)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611880" cy="178308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73152" cy="1783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4617720" y="2039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280720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de entrada (UseCase) y sus Service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3611880" cy="178308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73152" cy="1783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8412480" y="2039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12480" y="24414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 de entrada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0" y="280720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Controller, DTOs, manejo de errores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611880" cy="178308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73152" cy="1783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822960" y="40507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4531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 de salida — H2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81888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los puertos contra JPA / H2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886200"/>
            <a:ext cx="3611880" cy="178308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4343400" y="3886200"/>
            <a:ext cx="73152" cy="1783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4617720" y="40507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adapter-out-mongodb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17720" y="44531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 de salida — Mongo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17720" y="481888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los puertos contra MongoDB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886200"/>
            <a:ext cx="3611880" cy="178308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0" name="Shape 28"/>
          <p:cNvSpPr/>
          <p:nvPr/>
        </p:nvSpPr>
        <p:spPr>
          <a:xfrm>
            <a:off x="8138160" y="3886200"/>
            <a:ext cx="73152" cy="17830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8412480" y="40507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bootstrap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12480" y="445312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Root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412480" y="481888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Ensambla todo; el profile activo elige el adaptador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 ·  Arquitectura Hexagonal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DEL DOMINIO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puertos de salida — un único contrato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965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SolicitanteRepository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2404872"/>
            <a:ext cx="5120640" cy="10973"/>
          </a:xfrm>
          <a:prstGeom prst="rect">
            <a:avLst/>
          </a:prstGeom>
          <a:solidFill>
            <a:srgbClr val="DCE2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40080" y="2670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6243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SolicitudCreditoRepository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3063240"/>
            <a:ext cx="5120640" cy="10973"/>
          </a:xfrm>
          <a:prstGeom prst="rect">
            <a:avLst/>
          </a:prstGeom>
          <a:solidFill>
            <a:srgbClr val="DCE2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40080" y="3328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2826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ProductoCrediticioRepository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88720" y="3721608"/>
            <a:ext cx="5120640" cy="10973"/>
          </a:xfrm>
          <a:prstGeom prst="rect">
            <a:avLst/>
          </a:prstGeom>
          <a:solidFill>
            <a:srgbClr val="DCE2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640080" y="398678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40080" y="3986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94106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ModeloScoringRepository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88720" y="4379976"/>
            <a:ext cx="5120640" cy="10973"/>
          </a:xfrm>
          <a:prstGeom prst="rect">
            <a:avLst/>
          </a:prstGeom>
          <a:solidFill>
            <a:srgbClr val="DCE2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640080" y="46451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640080" y="4645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59943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EvaluacionCrediticiaRepository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88720" y="5038344"/>
            <a:ext cx="5120640" cy="10973"/>
          </a:xfrm>
          <a:prstGeom prst="rect">
            <a:avLst/>
          </a:prstGeom>
          <a:solidFill>
            <a:srgbClr val="DCE2F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6949440" y="1920240"/>
            <a:ext cx="4663440" cy="3383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7269480" y="2194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Definidos una sola vez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269480" y="26974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interfaces viven en motor-scoring-domain. El dominio y los casos de uso solo conocen estos nombres — nunca MongoRepository, JpaRepository ni MongoTemplate.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269480" y="3977640"/>
            <a:ext cx="4023360" cy="10973"/>
          </a:xfrm>
          <a:prstGeom prst="rect">
            <a:avLst/>
          </a:prstGeom>
          <a:solidFill>
            <a:srgbClr val="3B459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7269480" y="416052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adaptador (H2 o Mongo) implementa exactamente estas 5 interfaces — es el único punto de contacto entre el dominio y la persistencia.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 ·  Arquitectura Hexagonal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IMPLEMENTACIONES INTERCAMBIABLES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mismo puerto, dos implementaciones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57800" cy="416052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57800" cy="594360"/>
          </a:xfrm>
          <a:prstGeom prst="rect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H2 / JPA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motor-scoring-infrastructure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SolicitanteRepositoryAdapter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SolicitudCreditoRepositoryAdapter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0233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ProductoCrediticioRepositoryAdapter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4805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ModeloScoringRepositoryAdapter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9377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EvaluacionCrediticiaRepositoryAdapter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53949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Activado por  @Profile("h2")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874520"/>
            <a:ext cx="5257800" cy="416052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6172200" y="1874520"/>
            <a:ext cx="5257800" cy="594360"/>
          </a:xfrm>
          <a:prstGeom prst="rect">
            <a:avLst/>
          </a:prstGeom>
          <a:solidFill>
            <a:srgbClr val="12A59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6172200" y="1874520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MongoDB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92240" y="26517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motor-scoring-adapter-out-mongodb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31089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SolicitanteMongoRepositoryAdapter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35661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SolicitudCreditoMongoRepositoryAdapter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0233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ProductoCrediticioMongoRepositoryAdapter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4805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ModeloScoringMongoRepositoryAdapter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9377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EvaluacionCrediticiaMongoRepositoryAdapter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5394960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Activado por  @Profile("mongodb")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 ·  Arquitectura Hexagonal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 SELECCIÓN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profile de Spring decide, nada más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41A45"/>
          </a:solidFill>
          <a:ln w="12700">
            <a:solidFill>
              <a:srgbClr val="3B45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spring.profiles.active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ó  mongodb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29000" y="2514600"/>
            <a:ext cx="685800" cy="365760"/>
          </a:xfrm>
          <a:prstGeom prst="rightArrow">
            <a:avLst/>
          </a:prstGeom>
          <a:solidFill>
            <a:srgbClr val="5B648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4251960" y="19202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141A45"/>
          </a:solidFill>
          <a:ln w="12700">
            <a:solidFill>
              <a:srgbClr val="3B45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526280" y="21488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solo instancia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@Bean cuyo @Profile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 con el activo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55280" y="2514600"/>
            <a:ext cx="640080" cy="365760"/>
          </a:xfrm>
          <a:prstGeom prst="rightArrow">
            <a:avLst/>
          </a:prstGeom>
          <a:solidFill>
            <a:srgbClr val="5B6485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732520" y="18288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D98E0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8915400" y="188366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 H2 activo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ni se carga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32520" y="27432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12A594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915400" y="2798064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Adaptador Mongo activo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ni se carga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10927080" cy="1783080"/>
          </a:xfrm>
          <a:prstGeom prst="rect">
            <a:avLst/>
          </a:prstGeom>
          <a:solidFill>
            <a:srgbClr val="10143A"/>
          </a:solidFill>
          <a:ln w="12700">
            <a:solidFill>
              <a:srgbClr val="3B459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914400" y="4343400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8E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@Profile("h2")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4645152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JpaPersistenceConfiguration { ... }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946904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5248656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A5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@Profile("mongodb")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5550408"/>
            <a:ext cx="10332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MongoPersistenceConfiguration { ... 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  ·  Arquitectura Hexagonal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Hexagonal: concepto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PUERTOS Y ADAPTADORES</a:t>
            </a:r>
            <a:endParaRPr lang="en-US" sz="800" dirty="0"/>
          </a:p>
        </p:txBody>
      </p:sp>
      <p:pic>
        <p:nvPicPr>
          <p:cNvPr id="6" name="Image 0" descr="/mnt/data/2d8e2773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86840"/>
            <a:ext cx="6537960" cy="4358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60920" y="1234440"/>
            <a:ext cx="4160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Shape 5"/>
          <p:cNvSpPr/>
          <p:nvPr/>
        </p:nvSpPr>
        <p:spPr>
          <a:xfrm>
            <a:off x="7360920" y="1234440"/>
            <a:ext cx="64008" cy="132588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7562088" y="139903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PRINCIPIO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62088" y="1764792"/>
            <a:ext cx="377647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El negocio NO depende de frameworks.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60920" y="278892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Shape 9"/>
          <p:cNvSpPr/>
          <p:nvPr/>
        </p:nvSpPr>
        <p:spPr>
          <a:xfrm>
            <a:off x="7360920" y="2788920"/>
            <a:ext cx="64008" cy="1143000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0"/>
          <p:cNvSpPr/>
          <p:nvPr/>
        </p:nvSpPr>
        <p:spPr>
          <a:xfrm>
            <a:off x="7562088" y="295351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✅ CORRECTO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62088" y="3319272"/>
            <a:ext cx="377647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La infraestructura implementa puertos definidos por el dominio.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60920" y="416052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Shape 13"/>
          <p:cNvSpPr/>
          <p:nvPr/>
        </p:nvSpPr>
        <p:spPr>
          <a:xfrm>
            <a:off x="7360920" y="4160520"/>
            <a:ext cx="64008" cy="114300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7562088" y="432511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❌ INCORRECTO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562088" y="4690872"/>
            <a:ext cx="377647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El dominio importa MongoDB, Spring o Kafka.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Capas del proyecto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DISEÑO MODULAR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60120" y="1143000"/>
            <a:ext cx="10241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1143000" y="1289304"/>
            <a:ext cx="2423160" cy="530352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1298448" y="144475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A2E"/>
                </a:solidFill>
              </a:rPr>
              <a:t>motor-scoring-domain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86200" y="1408176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2238"/>
                </a:solidFill>
              </a:rPr>
              <a:t>Entities · ValueObjects · Services · Repository ports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2313432"/>
            <a:ext cx="10241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B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1143000" y="2459736"/>
            <a:ext cx="2423160" cy="530352"/>
          </a:xfrm>
          <a:prstGeom prst="round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1298448" y="261518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motor-scoring-application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86200" y="257860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2238"/>
                </a:solidFill>
              </a:rPr>
              <a:t>Use Cases · DTOs · Orquestación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3483864"/>
            <a:ext cx="10241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C7E8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1143000" y="3630168"/>
            <a:ext cx="2423160" cy="530352"/>
          </a:xfrm>
          <a:prstGeom prst="round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1298448" y="37856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motor-scoring-presentation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86200" y="3749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2238"/>
                </a:solidFill>
              </a:rPr>
              <a:t>Controllers · Request/Response · Validación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0120" y="4654296"/>
            <a:ext cx="10241280" cy="841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C99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1143000" y="4800600"/>
            <a:ext cx="2423160" cy="530352"/>
          </a:xfrm>
          <a:prstGeom prst="round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1298448" y="495604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adapter-out (Mongo + H2)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86200" y="491947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2238"/>
                </a:solidFill>
              </a:rPr>
              <a:t>Mappers · Documents/Entities · 2 implementaciones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de datos: ejemplo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REQUEST TO RESPONSE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2240280"/>
            <a:ext cx="11430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B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393192" y="25786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POST /evaluar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63040" y="2743200"/>
            <a:ext cx="301752" cy="0"/>
          </a:xfrm>
          <a:prstGeom prst="line">
            <a:avLst/>
          </a:prstGeom>
          <a:noFill/>
          <a:ln w="3175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1792224" y="2240280"/>
            <a:ext cx="11430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B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1865376" y="25786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Controller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35224" y="2743200"/>
            <a:ext cx="301752" cy="0"/>
          </a:xfrm>
          <a:prstGeom prst="line">
            <a:avLst/>
          </a:prstGeom>
          <a:noFill/>
          <a:ln w="3175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3264408" y="2240280"/>
            <a:ext cx="11430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B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3337560" y="25786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Use Case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07408" y="2743200"/>
            <a:ext cx="301752" cy="0"/>
          </a:xfrm>
          <a:prstGeom prst="line">
            <a:avLst/>
          </a:prstGeom>
          <a:noFill/>
          <a:ln w="3175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4736592" y="2240280"/>
            <a:ext cx="1143000" cy="1005840"/>
          </a:xfrm>
          <a:prstGeom prst="roundRect">
            <a:avLst/>
          </a:prstGeom>
          <a:solidFill>
            <a:srgbClr val="F4B942"/>
          </a:solidFill>
          <a:ln w="19050">
            <a:solidFill>
              <a:srgbClr val="F4B942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4809744" y="25786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A2E"/>
                </a:solidFill>
              </a:rPr>
              <a:t>Domain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79592" y="2743200"/>
            <a:ext cx="301752" cy="0"/>
          </a:xfrm>
          <a:prstGeom prst="line">
            <a:avLst/>
          </a:prstGeom>
          <a:noFill/>
          <a:ln w="3175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6208776" y="2240280"/>
            <a:ext cx="11430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B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6281928" y="25786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Repository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1776" y="2743200"/>
            <a:ext cx="301752" cy="0"/>
          </a:xfrm>
          <a:prstGeom prst="line">
            <a:avLst/>
          </a:prstGeom>
          <a:noFill/>
          <a:ln w="3175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680960" y="2240280"/>
            <a:ext cx="1143000" cy="1005840"/>
          </a:xfrm>
          <a:prstGeom prst="roundRect">
            <a:avLst/>
          </a:prstGeom>
          <a:solidFill>
            <a:srgbClr val="20C997"/>
          </a:solidFill>
          <a:ln w="19050">
            <a:solidFill>
              <a:srgbClr val="20C997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7754112" y="25786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MongoDB / H2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23960" y="2743200"/>
            <a:ext cx="301752" cy="0"/>
          </a:xfrm>
          <a:prstGeom prst="line">
            <a:avLst/>
          </a:prstGeom>
          <a:noFill/>
          <a:ln w="3175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9153144" y="2240280"/>
            <a:ext cx="11430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B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9226296" y="25786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Mapper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296144" y="2743200"/>
            <a:ext cx="301752" cy="0"/>
          </a:xfrm>
          <a:prstGeom prst="line">
            <a:avLst/>
          </a:prstGeom>
          <a:noFill/>
          <a:ln w="31750">
            <a:solidFill>
              <a:srgbClr val="16C7E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10625328" y="2240280"/>
            <a:ext cx="11430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B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10698480" y="257860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JSON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64592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C7E8"/>
                </a:solidFill>
              </a:rPr>
              <a:t>ADAPTER 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0" y="1645920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B942"/>
                </a:solidFill>
              </a:rPr>
              <a:t>APPLICATION + DOMAIN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18120" y="16459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C997"/>
                </a:solidFill>
              </a:rPr>
              <a:t>ADAPTER OUT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88720" y="411480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D6B7E"/>
                </a:solidFill>
              </a:rPr>
              <a:t>Las interfaces del dominio actúan como frontera estable. El profile activo (h2 o mongodb) decide el adaptador, sin reescribir reglas de scoring.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tecnológico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PLATAFORMA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2514600" cy="4160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64008" cy="416052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795528" y="13990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1764792"/>
            <a:ext cx="2130552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6B7E"/>
                </a:solidFill>
              </a:rPr>
              <a:t>Java 21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Spring Boot 3.x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Spring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1234440"/>
            <a:ext cx="2514600" cy="4160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3474720" y="1234440"/>
            <a:ext cx="64008" cy="4160520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3675888" y="13990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PERSISTENCIA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75888" y="1764792"/>
            <a:ext cx="2130552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6B7E"/>
                </a:solidFill>
              </a:rPr>
              <a:t>MongoDB + H2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Flyway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Docker volumes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1234440"/>
            <a:ext cx="2514600" cy="4160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6355080" y="1234440"/>
            <a:ext cx="64008" cy="4160520"/>
          </a:xfrm>
          <a:prstGeom prst="rect">
            <a:avLst/>
          </a:prstGeom>
          <a:solidFill>
            <a:srgbClr val="8667E8"/>
          </a:solidFill>
          <a:ln w="1270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6556248" y="13990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BUILD &amp; CI/CD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56248" y="1764792"/>
            <a:ext cx="2130552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6B7E"/>
                </a:solidFill>
              </a:rPr>
              <a:t>Maven 3.x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Docker Compose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ArchUnit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235440" y="1234440"/>
            <a:ext cx="2514600" cy="416052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9235440" y="1234440"/>
            <a:ext cx="64008" cy="41605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9436608" y="13990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TESTING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36608" y="1764792"/>
            <a:ext cx="2130552" cy="3502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sz="1150" dirty="0">
                <a:solidFill>
                  <a:srgbClr val="5D6B7E"/>
                </a:solidFill>
              </a:rPr>
              <a:t>JUnit 5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Mockito</a:t>
            </a:r>
            <a:endParaRPr lang="en-US" sz="1150" dirty="0"/>
          </a:p>
          <a:p>
            <a:r>
              <a:rPr lang="en-US" sz="1150" dirty="0">
                <a:solidFill>
                  <a:srgbClr val="5D6B7E"/>
                </a:solidFill>
              </a:rPr>
              <a:t>TestContainers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Hexagonal vs Onion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COMPARACIÓN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5303520" cy="2880360"/>
          </a:xfrm>
          <a:prstGeom prst="roundRect">
            <a:avLst/>
          </a:prstGeom>
          <a:solidFill>
            <a:srgbClr val="EAF5FF"/>
          </a:solidFill>
          <a:ln w="1905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5CAB"/>
                </a:solidFill>
              </a:rPr>
              <a:t>HEXAGONAL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280160" y="1965960"/>
            <a:ext cx="39319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1417320" y="2075688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2238"/>
                </a:solidFill>
              </a:rPr>
              <a:t>Entrada (Adapters)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80160" y="2532888"/>
            <a:ext cx="3931920" cy="402336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1417320" y="264261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2238"/>
                </a:solidFill>
              </a:rPr>
              <a:t>NEGOCIO / PUERTOS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80160" y="3099816"/>
            <a:ext cx="3931920" cy="402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417320" y="320954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2238"/>
                </a:solidFill>
              </a:rPr>
              <a:t>Salida (Adapters)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143000"/>
            <a:ext cx="5303520" cy="2880360"/>
          </a:xfrm>
          <a:prstGeom prst="roundRect">
            <a:avLst/>
          </a:prstGeom>
          <a:solidFill>
            <a:srgbClr val="F2EDFF"/>
          </a:solidFill>
          <a:ln w="1905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6675120" y="1417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8667E8"/>
                </a:solidFill>
              </a:rPr>
              <a:t>ONION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720840" y="1874520"/>
            <a:ext cx="4480560" cy="1737360"/>
          </a:xfrm>
          <a:prstGeom prst="round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720840" y="198424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86600" y="2176272"/>
            <a:ext cx="3749040" cy="1170432"/>
          </a:xfrm>
          <a:prstGeom prst="round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7086600" y="22860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Application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2487168"/>
            <a:ext cx="2926080" cy="566928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7498080" y="25968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Domain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3434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6B7E"/>
                </a:solidFill>
              </a:rPr>
              <a:t>Dependencias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34640" y="43434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5CAB"/>
                </a:solidFill>
              </a:rPr>
              <a:t>Puertos / inversión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92240" y="43434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67E8"/>
                </a:solidFill>
              </a:rPr>
              <a:t>Hacia el centro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46908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6B7E"/>
                </a:solidFill>
              </a:rPr>
              <a:t>Flexibilidad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34640" y="46908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5CAB"/>
                </a:solidFill>
              </a:rPr>
              <a:t>Alta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46908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67E8"/>
                </a:solidFill>
              </a:rPr>
              <a:t>Media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7240" y="50383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6B7E"/>
                </a:solidFill>
              </a:rPr>
              <a:t>Testing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34640" y="50383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5CAB"/>
                </a:solidFill>
              </a:rPr>
              <a:t>Muy fácil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92240" y="503834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67E8"/>
                </a:solidFill>
              </a:rPr>
              <a:t>Fácil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77240" y="53858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6B7E"/>
                </a:solidFill>
              </a:rPr>
              <a:t>Complejidad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34640" y="53858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5CAB"/>
                </a:solidFill>
              </a:rPr>
              <a:t>Más interfaces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92240" y="538581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67E8"/>
                </a:solidFill>
              </a:rPr>
              <a:t>Más intuitiva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77240" y="5733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D6B7E"/>
                </a:solidFill>
              </a:rPr>
              <a:t>Escalabilidad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34640" y="57332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5CAB"/>
                </a:solidFill>
              </a:rPr>
              <a:t>Excelente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92240" y="57332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67E8"/>
                </a:solidFill>
              </a:rPr>
              <a:t>Condicionada por capas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detallada: carpetas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CÓDIGO ORGANIZADO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5257800" cy="4983480"/>
          </a:xfrm>
          <a:prstGeom prst="roundRect">
            <a:avLst/>
          </a:prstGeom>
          <a:solidFill>
            <a:srgbClr val="0D1B2A"/>
          </a:solidFill>
          <a:ln w="1778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914400" y="1444752"/>
            <a:ext cx="470916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motor-scoring-domain/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entity/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SolicitudCredito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Solicitante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EvaluacionCrediticia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valueobject/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Dinero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Porcentaje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PuntajeCrediticio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repository/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143000"/>
            <a:ext cx="5257800" cy="4983480"/>
          </a:xfrm>
          <a:prstGeom prst="roundRect">
            <a:avLst/>
          </a:prstGeom>
          <a:solidFill>
            <a:srgbClr val="0D1B2A"/>
          </a:solidFill>
          <a:ln w="1778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583680" y="1444752"/>
            <a:ext cx="470916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adapter-out-mongodb/ (+H2)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mapper/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SolicitudCreditoMongoMapper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EvaluacionMongoMapper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repository/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SolicitudCreditoRepositoryImpl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document/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SolicitudCreditoMongoDocument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EvaluacionMongoDocument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Mapper manual: Domain ↔ Document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MAPEO TYPE-SAFE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75"/>
                </a:solidFill>
              </a:rPr>
              <a:t>USADO EN EL PROYECTO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5257800" cy="205740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E85D7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777240" y="1664208"/>
            <a:ext cx="489204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SolicitudMapper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SolicitudDTO toDTO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 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SolicitudDTO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getMonto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decenas de líneas...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09728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C997"/>
                </a:solidFill>
              </a:rPr>
              <a:t>ALTERNATIVA NO ADOPTADA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44752"/>
            <a:ext cx="5257800" cy="205740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400800" y="1664208"/>
            <a:ext cx="489204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@Mapper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componentModel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"spring"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SolicitudMapper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SolicitudDTO toDTO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SolicitudEntity 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4069080"/>
            <a:ext cx="3429000" cy="502920"/>
          </a:xfrm>
          <a:prstGeom prst="roundRect">
            <a:avLst/>
          </a:prstGeom>
          <a:solidFill>
            <a:srgbClr val="E8FAF5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804672" y="422452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238"/>
                </a:solidFill>
              </a:rPr>
              <a:t>✓  Código generado en compilación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4069080"/>
            <a:ext cx="3429000" cy="502920"/>
          </a:xfrm>
          <a:prstGeom prst="roundRect">
            <a:avLst/>
          </a:prstGeom>
          <a:solidFill>
            <a:srgbClr val="E8FAF5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626864" y="422452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238"/>
                </a:solidFill>
              </a:rPr>
              <a:t>✓  Type-safe, sin casting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02752" y="4069080"/>
            <a:ext cx="3429000" cy="502920"/>
          </a:xfrm>
          <a:prstGeom prst="roundRect">
            <a:avLst/>
          </a:prstGeom>
          <a:solidFill>
            <a:srgbClr val="E8FAF5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8449056" y="422452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238"/>
                </a:solidFill>
              </a:rPr>
              <a:t>✓  Sin reflection: alto performance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4782312"/>
            <a:ext cx="3429000" cy="502920"/>
          </a:xfrm>
          <a:prstGeom prst="roundRect">
            <a:avLst/>
          </a:prstGeom>
          <a:solidFill>
            <a:srgbClr val="E8FAF5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804672" y="493776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238"/>
                </a:solidFill>
              </a:rPr>
              <a:t>✓  Integración Spring automática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4782312"/>
            <a:ext cx="3429000" cy="502920"/>
          </a:xfrm>
          <a:prstGeom prst="roundRect">
            <a:avLst/>
          </a:prstGeom>
          <a:solidFill>
            <a:srgbClr val="E8FAF5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626864" y="493776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2238"/>
                </a:solidFill>
              </a:rPr>
              <a:t>✓  Mantenible y refactor-safe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03320" y="5806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5CAB"/>
                </a:solidFill>
              </a:rPr>
              <a:t>⚡ Este proyecto usa mapeo manual a propósito; MapStruct queda como alternativa a evaluar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de evaluación: ejemplo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CASO SOL-001</a:t>
            </a:r>
            <a:endParaRPr lang="en-US" sz="800" dirty="0"/>
          </a:p>
        </p:txBody>
      </p:sp>
      <p:pic>
        <p:nvPicPr>
          <p:cNvPr id="6" name="Image 0" descr="/mnt/data/c81ea3360a.png"/>
          <p:cNvPicPr>
            <a:picLocks noChangeAspect="1"/>
          </p:cNvPicPr>
          <p:nvPr/>
        </p:nvPicPr>
        <p:blipFill>
          <a:blip r:embed="rId3"/>
          <a:srcRect l="8333" r="8333"/>
          <a:stretch/>
        </p:blipFill>
        <p:spPr>
          <a:xfrm>
            <a:off x="6903720" y="1097280"/>
            <a:ext cx="4800600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143000"/>
            <a:ext cx="457200" cy="457200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612648" y="128016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88720" y="1161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8"/>
                </a:solidFill>
              </a:rPr>
              <a:t>Entrada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88720" y="1463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POST /api/solicitudes-credito/{id}/evaluar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566160" y="1143000"/>
            <a:ext cx="457200" cy="457200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3584448" y="1280160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60520" y="1161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8"/>
                </a:solidFill>
              </a:rPr>
              <a:t>Controller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60520" y="1463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Recibe y valida DTO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4360" y="2441448"/>
            <a:ext cx="457200" cy="457200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3"/>
          <p:cNvSpPr/>
          <p:nvPr/>
        </p:nvSpPr>
        <p:spPr>
          <a:xfrm>
            <a:off x="612648" y="257860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88720" y="24597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8"/>
                </a:solidFill>
              </a:rPr>
              <a:t>Use Case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88720" y="27614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Orquesta solicitud + modelo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566160" y="2441448"/>
            <a:ext cx="457200" cy="457200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3584448" y="257860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160520" y="24597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8"/>
                </a:solidFill>
              </a:rPr>
              <a:t>Domain Service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160520" y="27614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Calcula puntaje y resultado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94360" y="3739896"/>
            <a:ext cx="457200" cy="457200"/>
          </a:xfrm>
          <a:prstGeom prst="ellipse">
            <a:avLst/>
          </a:prstGeom>
          <a:solidFill>
            <a:srgbClr val="0B5C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1"/>
          <p:cNvSpPr/>
          <p:nvPr/>
        </p:nvSpPr>
        <p:spPr>
          <a:xfrm>
            <a:off x="612648" y="387705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88720" y="37581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8"/>
                </a:solidFill>
              </a:rPr>
              <a:t>Repository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88720" y="40599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Mapper → Document/Entity → MongoDB/H2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566160" y="3739896"/>
            <a:ext cx="457200" cy="457200"/>
          </a:xfrm>
          <a:prstGeom prst="ellipse">
            <a:avLst/>
          </a:prstGeom>
          <a:solidFill>
            <a:srgbClr val="20C9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5"/>
          <p:cNvSpPr/>
          <p:nvPr/>
        </p:nvSpPr>
        <p:spPr>
          <a:xfrm>
            <a:off x="3584448" y="387705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160520" y="37581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2238"/>
                </a:solidFill>
              </a:rPr>
              <a:t>Respuesta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160520" y="40599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989 · PREAPROBADA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903720" y="5166360"/>
            <a:ext cx="4800600" cy="731520"/>
          </a:xfrm>
          <a:prstGeom prst="roundRect">
            <a:avLst/>
          </a:prstGeom>
          <a:solidFill>
            <a:srgbClr val="071A2E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29"/>
          <p:cNvSpPr/>
          <p:nvPr/>
        </p:nvSpPr>
        <p:spPr>
          <a:xfrm>
            <a:off x="7132320" y="5431536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 "puntajeTotal": 989, "resultado": "PREAPROBADA" }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Ventajas de esta arquitectura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VALOR TÉCNICO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64008" cy="187452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795528" y="130759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DESACOPLAMIENTO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1673352"/>
            <a:ext cx="304495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MongoDB ↔ H2 sin tocar Domain (ya implementado)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16552" y="11430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4416552" y="1143000"/>
            <a:ext cx="64008" cy="1874520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4617720" y="130759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TESTABILIDAD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1673352"/>
            <a:ext cx="304495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Mocks y unit tests sin base de datos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38744" y="11430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8238744" y="1143000"/>
            <a:ext cx="64008" cy="1874520"/>
          </a:xfrm>
          <a:prstGeom prst="rect">
            <a:avLst/>
          </a:prstGeom>
          <a:solidFill>
            <a:srgbClr val="8667E8"/>
          </a:solidFill>
          <a:ln w="1270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8439912" y="130759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MANTENIBILIDAD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39912" y="1673352"/>
            <a:ext cx="304495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Reglas de negocio limpias y localizables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34747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594360" y="3474720"/>
            <a:ext cx="64008" cy="18745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795528" y="363931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ESCALABILIDAD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" y="4005072"/>
            <a:ext cx="304495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Nuevos adapters de salida sin tocar Domain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16552" y="34747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4416552" y="3474720"/>
            <a:ext cx="64008" cy="1874520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4617720" y="363931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REUTILIZACIÓN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17720" y="4005072"/>
            <a:ext cx="304495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Mismo Domain sirve a cualquier adaptador de entrada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38744" y="347472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8238744" y="3474720"/>
            <a:ext cx="64008" cy="187452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8439912" y="363931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INDEPENDENCIA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39912" y="4005072"/>
            <a:ext cx="3044952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El negocio no depende del framework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Desafíos y consideraciones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TRADE-OFFS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594360" y="1097280"/>
            <a:ext cx="64008" cy="12344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795528" y="126187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⚠ Complejidad inicial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1627632"/>
            <a:ext cx="48737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Más capas y disciplina de diseño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64008" cy="12344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419088" y="126187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⚠ Inversión de dependencias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19088" y="1627632"/>
            <a:ext cx="48737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Interfaces y mappers adicionales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26060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594360" y="2606040"/>
            <a:ext cx="64008" cy="12344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795528" y="277063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⚠ Curva de aprendizaje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5528" y="3136392"/>
            <a:ext cx="48737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Agregados, VOs, puertos y adaptadores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260604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6217920" y="2606040"/>
            <a:ext cx="64008" cy="12344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6419088" y="2770632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⚠ Performance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19088" y="3136392"/>
            <a:ext cx="48737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Más llamadas, normalmente marginales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4315968"/>
            <a:ext cx="10881360" cy="1234440"/>
          </a:xfrm>
          <a:prstGeom prst="roundRect">
            <a:avLst/>
          </a:prstGeom>
          <a:solidFill>
            <a:srgbClr val="E8FAF5"/>
          </a:solidFill>
          <a:ln w="1905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868680" y="4590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C997"/>
                </a:solidFill>
              </a:rPr>
              <a:t>SOLUCIONES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31720" y="45537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2238"/>
                </a:solidFill>
              </a:rPr>
              <a:t>MapStruct · patrones documentados · code reviews · arquetipo Maven · observabilidad y caché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Tecnologías en acción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IMPLEMENTACIÓN</a:t>
            </a:r>
            <a:endParaRPr lang="en-US" sz="800" dirty="0"/>
          </a:p>
        </p:txBody>
      </p:sp>
      <p:pic>
        <p:nvPicPr>
          <p:cNvPr id="6" name="Image 0" descr="/mnt/data/51a7826bae.png"/>
          <p:cNvPicPr>
            <a:picLocks noChangeAspect="1"/>
          </p:cNvPicPr>
          <p:nvPr/>
        </p:nvPicPr>
        <p:blipFill>
          <a:blip r:embed="rId3"/>
          <a:srcRect l="19027" r="19027"/>
          <a:stretch/>
        </p:blipFill>
        <p:spPr>
          <a:xfrm>
            <a:off x="6903720" y="1051560"/>
            <a:ext cx="4800600" cy="5166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097280"/>
            <a:ext cx="5897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822960" y="1243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5CAB"/>
                </a:solidFill>
              </a:rPr>
              <a:t>SPRING BOOT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743200" y="1225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@SpringBootApplication · @Service · @Repository · @RestController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94360" y="2084832"/>
            <a:ext cx="5897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8"/>
          <p:cNvSpPr/>
          <p:nvPr/>
        </p:nvSpPr>
        <p:spPr>
          <a:xfrm>
            <a:off x="822960" y="22311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5CAB"/>
                </a:solidFill>
              </a:rPr>
              <a:t>SPRING DATA MONGODB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43200" y="22128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MongoRepository · @Document · queries derivadas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3072384"/>
            <a:ext cx="5897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822960" y="3218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C997"/>
                </a:solidFill>
              </a:rPr>
              <a:t>SPRING DATA JPA + H2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743200" y="3200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@Profile("h2") · JpaRepository · Flyway migrations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4360" y="4059936"/>
            <a:ext cx="5897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4"/>
          <p:cNvSpPr/>
          <p:nvPr/>
        </p:nvSpPr>
        <p:spPr>
          <a:xfrm>
            <a:off x="822960" y="42062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5CAB"/>
                </a:solidFill>
              </a:rPr>
              <a:t>DOCKER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743200" y="41879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Compose · contenedores · ambiente reproducible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94360" y="5047488"/>
            <a:ext cx="5897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822960" y="5193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5CAB"/>
                </a:solidFill>
              </a:rPr>
              <a:t>MAVEN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743200" y="51755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</a:rPr>
              <a:t>Multi-module · BOM · plugins centralizados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Compose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STACK REPRODUCIBLE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6812280" cy="525780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6263640" cy="466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'3.8'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mongodb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mongo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8.0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"27017:27017"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MONGO_INITDB_ROOT_USERNAME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root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MONGO_INITDB_ROOT_PASSWORD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password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mongodb_data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/data/db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motor-scoring-api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"8080:8080"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SPRING_DATA_MONGODB_URI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mongodb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//root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password@mongodb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27017/scoring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818120" y="1417320"/>
            <a:ext cx="3520440" cy="3154680"/>
          </a:xfrm>
          <a:prstGeom prst="roundRect">
            <a:avLst/>
          </a:prstGeom>
          <a:solidFill>
            <a:srgbClr val="071A2E"/>
          </a:solidFill>
          <a:ln w="1905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8321040" y="1874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UN COMANDO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LEVANTA TODO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183880" y="31821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C99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$ docker compose up -d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75320" y="4892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B7E"/>
                </a:solidFill>
              </a:rPr>
              <a:t>Aplicación + MongoDB (replica set rs0) + red interna + volumen. Existe un segundo docker-compose.h2.yml para el perfil h2.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strategy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CALIDAD POR CAPAS</a:t>
            </a:r>
            <a:endParaRPr lang="en-US" sz="800" dirty="0"/>
          </a:p>
        </p:txBody>
      </p:sp>
      <p:pic>
        <p:nvPicPr>
          <p:cNvPr id="6" name="Image 0" descr="/mnt/data/86e72f55a6.png"/>
          <p:cNvPicPr>
            <a:picLocks noChangeAspect="1"/>
          </p:cNvPicPr>
          <p:nvPr/>
        </p:nvPicPr>
        <p:blipFill>
          <a:blip r:embed="rId3"/>
          <a:srcRect l="19253" r="19253"/>
          <a:stretch/>
        </p:blipFill>
        <p:spPr>
          <a:xfrm>
            <a:off x="6858000" y="1051560"/>
            <a:ext cx="489204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143000"/>
            <a:ext cx="5806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868680" y="13075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C997"/>
                </a:solidFill>
              </a:rPr>
              <a:t>UNIT TESTS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834640" y="130759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238"/>
                </a:solidFill>
              </a:rPr>
              <a:t>Domain Services sin BD + ArchUnit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834640" y="17190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EvaluacionService → PREAPROBADA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" y="2697480"/>
            <a:ext cx="5806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868680" y="2862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CAB"/>
                </a:solidFill>
              </a:rPr>
              <a:t>INTEGRATION TESTS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834640" y="286207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238"/>
                </a:solidFill>
              </a:rPr>
              <a:t>MongoDB con TestContainers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834640" y="327355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guardarYRecuperarSolicitud()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4360" y="4251960"/>
            <a:ext cx="5806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3"/>
          <p:cNvSpPr/>
          <p:nvPr/>
        </p:nvSpPr>
        <p:spPr>
          <a:xfrm>
            <a:off x="868680" y="44165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67E8"/>
                </a:solidFill>
              </a:rPr>
              <a:t>E2E TESTS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834640" y="44165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2238"/>
                </a:solidFill>
              </a:rPr>
              <a:t>API → aplicación → BD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834640" y="482803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B7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POST /solicitudes-credito/evaluar → 200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de código: Domain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NEGOCIO PURO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7452360" cy="530352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868680" y="1298448"/>
            <a:ext cx="690372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SolicitudCredito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Long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Dinero montoSolicitado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Solicitante solicitante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validar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montoSolicitado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esMenorA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Dinero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DomainException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"Monto insuficiente"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Dinero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BigDecimal monto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Moneda moneda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Dinero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BigDecimal monto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Moneda moneda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compareTo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DomainException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"Monto debe ser positivo"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8366760" y="123444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8366760" y="1234440"/>
            <a:ext cx="64008" cy="1234440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8567928" y="139903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SIN DEPENDENCIAS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67928" y="1764792"/>
            <a:ext cx="27706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No importa Spring, MongoDB ni HTTP.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66760" y="278892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8366760" y="2788920"/>
            <a:ext cx="64008" cy="123444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567928" y="295351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VALUE OBJECT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67928" y="3319272"/>
            <a:ext cx="27706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Dinero protege invariantes desde su construcción.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66760" y="4343400"/>
            <a:ext cx="3154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8366760" y="4343400"/>
            <a:ext cx="64008" cy="123444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8567928" y="4507992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A2E"/>
                </a:solidFill>
              </a:rPr>
              <a:t>COMPORTAMIENTO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67928" y="4873752"/>
            <a:ext cx="277063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6B7E"/>
                </a:solidFill>
              </a:rPr>
              <a:t>La entidad contiene reglas, no solo getters/setters.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Ejemplo de código: Adapter Out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PERSISTENCIA MONGODB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7452360" cy="5303520"/>
          </a:xfrm>
          <a:prstGeom prst="roundRect">
            <a:avLst/>
          </a:prstGeom>
          <a:solidFill>
            <a:srgbClr val="0D1B2A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868680" y="1298448"/>
            <a:ext cx="690372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Mapper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manual, sin anotaciones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SolicitudCreditoMongoMapper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SolicitudCreditoMongoDocument toDocument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SolicitudCredito entity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SolicitudCredito toDomain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SolicitudCreditoMongoDocument doc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SolicitudCreditoRepositoryImpl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SolicitudCreditoRepository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SolicitudCreditoMongoRepository mongoRepo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SolicitudCreditoMongoMapper mapper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@Override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guardar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SolicitudCredito solicitud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mongoRepo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toDocument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solicitud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8458200" y="1325880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8641080" y="150876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Domain Entity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802368" y="1892808"/>
            <a:ext cx="0" cy="384048"/>
          </a:xfrm>
          <a:prstGeom prst="line">
            <a:avLst/>
          </a:prstGeom>
          <a:noFill/>
          <a:ln w="31750">
            <a:solidFill>
              <a:srgbClr val="20C99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8458200" y="2404872"/>
            <a:ext cx="2697480" cy="566928"/>
          </a:xfrm>
          <a:prstGeom prst="round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8641080" y="258775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Manual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802368" y="2971800"/>
            <a:ext cx="0" cy="384048"/>
          </a:xfrm>
          <a:prstGeom prst="line">
            <a:avLst/>
          </a:prstGeom>
          <a:noFill/>
          <a:ln w="31750">
            <a:solidFill>
              <a:srgbClr val="20C99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8458200" y="3483864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8641080" y="366674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Mongo Document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802368" y="4050792"/>
            <a:ext cx="0" cy="384048"/>
          </a:xfrm>
          <a:prstGeom prst="line">
            <a:avLst/>
          </a:prstGeom>
          <a:noFill/>
          <a:ln w="31750">
            <a:solidFill>
              <a:srgbClr val="20C99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8458200" y="4562856"/>
            <a:ext cx="2697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8641080" y="4745736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MongoRepository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Proyecciones futuras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ROADMAP</a:t>
            </a:r>
            <a:endParaRPr lang="en-US" sz="800" dirty="0"/>
          </a:p>
        </p:txBody>
      </p:sp>
      <p:pic>
        <p:nvPicPr>
          <p:cNvPr id="6" name="Image 0" descr="/mnt/data/4ff9aa13f4.png"/>
          <p:cNvPicPr>
            <a:picLocks noChangeAspect="1"/>
          </p:cNvPicPr>
          <p:nvPr/>
        </p:nvPicPr>
        <p:blipFill>
          <a:blip r:embed="rId3"/>
          <a:srcRect t="16530" b="16530"/>
          <a:stretch/>
        </p:blipFill>
        <p:spPr>
          <a:xfrm>
            <a:off x="0" y="960120"/>
            <a:ext cx="12191695" cy="5440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960120"/>
            <a:ext cx="12191695" cy="5440680"/>
          </a:xfrm>
          <a:prstGeom prst="rect">
            <a:avLst/>
          </a:prstGeom>
          <a:solidFill>
            <a:srgbClr val="071A2E">
              <a:alpha val="65000"/>
            </a:srgbClr>
          </a:solidFill>
          <a:ln w="12700">
            <a:solidFill>
              <a:srgbClr val="071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5"/>
          <p:cNvSpPr/>
          <p:nvPr/>
        </p:nvSpPr>
        <p:spPr>
          <a:xfrm>
            <a:off x="502920" y="1325880"/>
            <a:ext cx="3520440" cy="1554480"/>
          </a:xfrm>
          <a:prstGeom prst="roundRect">
            <a:avLst/>
          </a:prstGeom>
          <a:solidFill>
            <a:srgbClr val="071A2E">
              <a:alpha val="90000"/>
            </a:srgbClr>
          </a:solidFill>
          <a:ln w="1778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6"/>
          <p:cNvSpPr/>
          <p:nvPr/>
        </p:nvSpPr>
        <p:spPr>
          <a:xfrm>
            <a:off x="731520" y="15819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EVENT SOURCING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1031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BFA"/>
                </a:solidFill>
              </a:rPr>
              <a:t>Auditoría completa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0" y="1325880"/>
            <a:ext cx="3520440" cy="1554480"/>
          </a:xfrm>
          <a:prstGeom prst="roundRect">
            <a:avLst/>
          </a:prstGeom>
          <a:solidFill>
            <a:srgbClr val="071A2E">
              <a:alpha val="90000"/>
            </a:srgbClr>
          </a:solidFill>
          <a:ln w="1778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9"/>
          <p:cNvSpPr/>
          <p:nvPr/>
        </p:nvSpPr>
        <p:spPr>
          <a:xfrm>
            <a:off x="4617720" y="15819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CACHING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17720" y="21031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BFA"/>
                </a:solidFill>
              </a:rPr>
              <a:t>Redis y modelos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75320" y="1325880"/>
            <a:ext cx="3520440" cy="1554480"/>
          </a:xfrm>
          <a:prstGeom prst="roundRect">
            <a:avLst/>
          </a:prstGeom>
          <a:solidFill>
            <a:srgbClr val="071A2E">
              <a:alpha val="90000"/>
            </a:srgbClr>
          </a:solidFill>
          <a:ln w="1778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2"/>
          <p:cNvSpPr/>
          <p:nvPr/>
        </p:nvSpPr>
        <p:spPr>
          <a:xfrm>
            <a:off x="8503920" y="15819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ANALYTICS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03920" y="21031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BFA"/>
                </a:solidFill>
              </a:rPr>
              <a:t>Métricas + dashboards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657600"/>
            <a:ext cx="3520440" cy="1554480"/>
          </a:xfrm>
          <a:prstGeom prst="roundRect">
            <a:avLst/>
          </a:prstGeom>
          <a:solidFill>
            <a:srgbClr val="071A2E">
              <a:alpha val="90000"/>
            </a:srgbClr>
          </a:solidFill>
          <a:ln w="1778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5"/>
          <p:cNvSpPr/>
          <p:nvPr/>
        </p:nvSpPr>
        <p:spPr>
          <a:xfrm>
            <a:off x="731520" y="3913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SEGURIDAD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1520" y="44348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BFA"/>
                </a:solidFill>
              </a:rPr>
              <a:t>JWT + audit logs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89120" y="3657600"/>
            <a:ext cx="3520440" cy="1554480"/>
          </a:xfrm>
          <a:prstGeom prst="roundRect">
            <a:avLst/>
          </a:prstGeom>
          <a:solidFill>
            <a:srgbClr val="071A2E">
              <a:alpha val="90000"/>
            </a:srgbClr>
          </a:solidFill>
          <a:ln w="1778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8"/>
          <p:cNvSpPr/>
          <p:nvPr/>
        </p:nvSpPr>
        <p:spPr>
          <a:xfrm>
            <a:off x="4617720" y="3913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TESTING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617720" y="44348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BFA"/>
                </a:solidFill>
              </a:rPr>
              <a:t>Mutation + performance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275320" y="3657600"/>
            <a:ext cx="3520440" cy="1554480"/>
          </a:xfrm>
          <a:prstGeom prst="roundRect">
            <a:avLst/>
          </a:prstGeom>
          <a:solidFill>
            <a:srgbClr val="071A2E">
              <a:alpha val="90000"/>
            </a:srgbClr>
          </a:solidFill>
          <a:ln w="17780">
            <a:solidFill>
              <a:srgbClr val="866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1"/>
          <p:cNvSpPr/>
          <p:nvPr/>
        </p:nvSpPr>
        <p:spPr>
          <a:xfrm>
            <a:off x="8503920" y="3913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EXPANSIÓN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503920" y="44348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EBFA"/>
                </a:solidFill>
              </a:rPr>
              <a:t>Nuevo adapter de entrada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C7E8"/>
          </a:solidFill>
          <a:ln w="1270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A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155680" y="347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B5CAB"/>
                </a:solidFill>
              </a:rPr>
              <a:t>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16C7E8"/>
                </a:solidFill>
              </a:rPr>
              <a:t>RESULTADO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5349240" cy="4434840"/>
          </a:xfrm>
          <a:prstGeom prst="roundRect">
            <a:avLst/>
          </a:prstGeom>
          <a:solidFill>
            <a:srgbClr val="071A2E"/>
          </a:solidFill>
          <a:ln w="19050">
            <a:solidFill>
              <a:srgbClr val="16C7E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ARQUITECTURA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</a:rPr>
              <a:t>HEXAGONAL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234440" y="2788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BFA"/>
                </a:solidFill>
              </a:rPr>
              <a:t>✓ Domain no sabe qué BD hay detrás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CEBFA"/>
                </a:solidFill>
              </a:rPr>
              <a:t>✓ Testing simple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CEBFA"/>
                </a:solidFill>
              </a:rPr>
              <a:t>✓ Escalabilidad sin refactor masivo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DCEBFA"/>
                </a:solidFill>
              </a:rPr>
              <a:t>✓ Equipo organizado por responsabilidades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143000"/>
            <a:ext cx="52578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2E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766560" y="1554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CAB"/>
                </a:solidFill>
              </a:rPr>
              <a:t>PRÁCTICAS DEMOSTRADAS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03720" y="2240280"/>
            <a:ext cx="1874520" cy="502920"/>
          </a:xfrm>
          <a:prstGeom prst="roundRect">
            <a:avLst/>
          </a:prstGeom>
          <a:solidFill>
            <a:srgbClr val="EAF5FF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995160" y="240487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DDD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52560" y="2240280"/>
            <a:ext cx="1874520" cy="502920"/>
          </a:xfrm>
          <a:prstGeom prst="roundRect">
            <a:avLst/>
          </a:prstGeom>
          <a:solidFill>
            <a:srgbClr val="EAF5FF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9144000" y="240487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SOLID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03720" y="3017520"/>
            <a:ext cx="1874520" cy="502920"/>
          </a:xfrm>
          <a:prstGeom prst="roundRect">
            <a:avLst/>
          </a:prstGeom>
          <a:solidFill>
            <a:srgbClr val="EAF5FF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6995160" y="318211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Clean Architecture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52560" y="3017520"/>
            <a:ext cx="1874520" cy="502920"/>
          </a:xfrm>
          <a:prstGeom prst="roundRect">
            <a:avLst/>
          </a:prstGeom>
          <a:solidFill>
            <a:srgbClr val="EAF5FF"/>
          </a:solidFill>
          <a:ln w="12700">
            <a:solidFill>
              <a:srgbClr val="0B5C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9144000" y="318211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H2 + MongoDB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03720" y="3794760"/>
            <a:ext cx="1874520" cy="502920"/>
          </a:xfrm>
          <a:prstGeom prst="roundRect">
            <a:avLst/>
          </a:prstGeom>
          <a:solidFill>
            <a:srgbClr val="E8FAF5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6995160" y="395935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2238"/>
                </a:solidFill>
              </a:rPr>
              <a:t>Testing por capas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48840" y="5806440"/>
            <a:ext cx="7909560" cy="530352"/>
          </a:xfrm>
          <a:prstGeom prst="round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2377440" y="5980176"/>
            <a:ext cx="7452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SISTEMA MANTENIBLE · ESCALABLE · TESTEABLE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A9A"/>
                </a:solidFill>
              </a:rPr>
              <a:t>Motor de Scoring Crediticio  |  Arquitectura Hexagonal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 Display"/>
              </a:rPr>
              <a:t>Qué quedó intacto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300" b="0">
                <a:solidFill>
                  <a:srgbClr val="697586"/>
                </a:solidFill>
                <a:latin typeface="Aptos"/>
              </a:rPr>
              <a:t>El núcleo se conserva para demostrar independencia de infraestructura.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999" cy="201168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84264"/>
            <a:ext cx="548640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750" b="0">
                <a:solidFill>
                  <a:srgbClr val="697586"/>
                </a:solidFill>
                <a:latin typeface="Aptos"/>
              </a:rPr>
              <a:t>Motor Scoring Crediticio · Arquitectura Hexagonal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84264"/>
            <a:ext cx="164592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r"/>
            <a:r>
              <a:rPr sz="750" b="0">
                <a:solidFill>
                  <a:srgbClr val="697586"/>
                </a:solidFill>
                <a:latin typeface="Aptos"/>
              </a:rPr>
              <a:t>Sustentación técnica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303520" cy="41148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motor-scoring-domain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303520" cy="41148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1F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motor-scoring-application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5074920" cy="310896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t>entity: SolicitudCredito, Solicitante, ModeloScoring, EvaluacionCrediticia</a:t>
            </a:r>
          </a:p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t>valueobject: Dinero, NumeroDocumento, PuntajeCrediticio, Porcentaje</a:t>
            </a:r>
          </a:p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t>service: CalculadorScoring y calculadores financieros</a:t>
            </a:r>
          </a:p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t>repository: puertos de salida</a:t>
            </a:r>
          </a:p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t>enums / exception: estados y errores de negocio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5074920" cy="310896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t>usecase: CrearSolicitudCreditoUseCase, EjecutarEvaluacionScoringUseCase</a:t>
            </a:r>
          </a:p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t>service: CrearSolicitudCreditoService, EjecutarEvaluacionScoringService</a:t>
            </a:r>
          </a:p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t>command: entradas internas de los casos de uso</a:t>
            </a:r>
          </a:p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t>dto: salidas internas hacia presentation</a:t>
            </a:r>
          </a:p>
          <a:p>
            <a:pPr algn="l">
              <a:buChar char="•"/>
              <a:defRPr sz="1250">
                <a:solidFill>
                  <a:srgbClr val="111827"/>
                </a:solidFill>
                <a:latin typeface="Aptos"/>
              </a:defRPr>
            </a:pPr>
            <a:r>
              <a:t>exception: errores del flujo de aplicación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5577840"/>
            <a:ext cx="10058400" cy="475488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Sin anotaciones de infraestructura: sin @Entity, sin @Document, sin MongoRepository, sin JpaRepository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 Display"/>
              </a:rPr>
              <a:t>Núcleo: paquetes de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300" b="0">
                <a:solidFill>
                  <a:srgbClr val="697586"/>
                </a:solidFill>
                <a:latin typeface="Aptos"/>
              </a:rPr>
              <a:t>Aquí vive el lenguaje del negocio y las reglas del scoring.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999" cy="201168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84264"/>
            <a:ext cx="548640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750" b="0">
                <a:solidFill>
                  <a:srgbClr val="697586"/>
                </a:solidFill>
                <a:latin typeface="Aptos"/>
              </a:rPr>
              <a:t>Motor Scoring Crediticio · Arquitectura Hexagonal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84264"/>
            <a:ext cx="164592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r"/>
            <a:r>
              <a:rPr sz="750" b="0">
                <a:solidFill>
                  <a:srgbClr val="697586"/>
                </a:solidFill>
                <a:latin typeface="Aptos"/>
              </a:rPr>
              <a:t>Sustentación técnica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154680" cy="41148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84248"/>
            <a:ext cx="29718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ptos"/>
              </a:rPr>
              <a:t>Objetos con identidad y ciclo de vida: SolicitudCredito, ProductoCrediticio, ModeloScoring.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154680" cy="41148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valueobject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984248"/>
            <a:ext cx="29718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ptos"/>
              </a:rPr>
              <a:t>Valores válidos e inmutables: Dinero, NumeroDocumento, PuntajeCrediticio.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417320"/>
            <a:ext cx="3154680" cy="41148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984248"/>
            <a:ext cx="29718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ptos"/>
              </a:rPr>
              <a:t>Cálculos y políticas: CalculadorScoring, capacidad, RDI, cuota-ingreso.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91840"/>
            <a:ext cx="3154680" cy="41148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58768"/>
            <a:ext cx="29718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150" b="1" dirty="0" err="1">
                <a:solidFill>
                  <a:srgbClr val="111827"/>
                </a:solidFill>
                <a:highlight>
                  <a:srgbClr val="FFFF00"/>
                </a:highlight>
                <a:latin typeface="Aptos"/>
              </a:rPr>
              <a:t>Puertos</a:t>
            </a:r>
            <a:r>
              <a:rPr sz="1150" b="1" dirty="0">
                <a:solidFill>
                  <a:srgbClr val="111827"/>
                </a:solidFill>
                <a:highlight>
                  <a:srgbClr val="FFFF00"/>
                </a:highlight>
                <a:latin typeface="Aptos"/>
              </a:rPr>
              <a:t> de </a:t>
            </a:r>
            <a:r>
              <a:rPr sz="1150" b="1" dirty="0" err="1">
                <a:solidFill>
                  <a:srgbClr val="111827"/>
                </a:solidFill>
                <a:highlight>
                  <a:srgbClr val="FFFF00"/>
                </a:highlight>
                <a:latin typeface="Aptos"/>
              </a:rPr>
              <a:t>salida</a:t>
            </a:r>
            <a:r>
              <a:rPr sz="1150" b="1" dirty="0">
                <a:solidFill>
                  <a:srgbClr val="111827"/>
                </a:solidFill>
                <a:highlight>
                  <a:srgbClr val="FFFF00"/>
                </a:highlight>
                <a:latin typeface="Aptos"/>
              </a:rPr>
              <a:t>: </a:t>
            </a:r>
            <a:r>
              <a:rPr sz="1150" b="0" dirty="0" err="1">
                <a:solidFill>
                  <a:srgbClr val="111827"/>
                </a:solidFill>
                <a:latin typeface="Aptos"/>
              </a:rPr>
              <a:t>contratos</a:t>
            </a:r>
            <a:r>
              <a:rPr sz="1150" b="0" dirty="0">
                <a:solidFill>
                  <a:srgbClr val="111827"/>
                </a:solidFill>
                <a:latin typeface="Aptos"/>
              </a:rPr>
              <a:t> que </a:t>
            </a:r>
            <a:r>
              <a:rPr sz="1150" b="0" dirty="0" err="1">
                <a:solidFill>
                  <a:srgbClr val="111827"/>
                </a:solidFill>
                <a:latin typeface="Aptos"/>
              </a:rPr>
              <a:t>serán</a:t>
            </a:r>
            <a:r>
              <a:rPr sz="1150" b="0" dirty="0">
                <a:solidFill>
                  <a:srgbClr val="111827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111827"/>
                </a:solidFill>
                <a:latin typeface="Aptos"/>
              </a:rPr>
              <a:t>implementados</a:t>
            </a:r>
            <a:r>
              <a:rPr sz="1150" b="0" dirty="0">
                <a:solidFill>
                  <a:srgbClr val="111827"/>
                </a:solidFill>
                <a:latin typeface="Aptos"/>
              </a:rPr>
              <a:t> </a:t>
            </a:r>
            <a:r>
              <a:rPr sz="1150" b="0" dirty="0" err="1">
                <a:solidFill>
                  <a:srgbClr val="111827"/>
                </a:solidFill>
                <a:latin typeface="Aptos"/>
              </a:rPr>
              <a:t>por</a:t>
            </a:r>
            <a:r>
              <a:rPr sz="1150" b="0" dirty="0">
                <a:solidFill>
                  <a:srgbClr val="111827"/>
                </a:solidFill>
                <a:latin typeface="Aptos"/>
              </a:rPr>
              <a:t> H2 o MongoDB.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291840"/>
            <a:ext cx="3154680" cy="41148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enums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858768"/>
            <a:ext cx="29718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ptos"/>
              </a:rPr>
              <a:t>Estados cerrados: REGISTRADA, EVALUADA, PREAPROBADA, RECHAZADA.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3291840"/>
            <a:ext cx="3154680" cy="41148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exception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858768"/>
            <a:ext cx="2971800" cy="7772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150" b="0">
                <a:solidFill>
                  <a:srgbClr val="111827"/>
                </a:solidFill>
                <a:latin typeface="Aptos"/>
              </a:rPr>
              <a:t>Errores del dominio: solicitud no evaluable, modelo no activo, puntaje inválido.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715000"/>
            <a:ext cx="8503920" cy="457200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697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Regla de oro: Domain no depende de Spring, JPA, H2, MongoDB ni BSON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 Display"/>
              </a:rPr>
              <a:t>Application: puertos de entrada y 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300" b="0">
                <a:solidFill>
                  <a:srgbClr val="697586"/>
                </a:solidFill>
                <a:latin typeface="Aptos"/>
              </a:rPr>
              <a:t>Orquesta el flujo; no sabe si se persiste en MongoDB o H2.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999" cy="201168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84264"/>
            <a:ext cx="548640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750" b="0">
                <a:solidFill>
                  <a:srgbClr val="697586"/>
                </a:solidFill>
                <a:latin typeface="Aptos"/>
              </a:rPr>
              <a:t>Motor Scoring Crediticio · Arquitectura Hexagonal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84264"/>
            <a:ext cx="164592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r"/>
            <a:r>
              <a:rPr sz="750" b="0">
                <a:solidFill>
                  <a:srgbClr val="697586"/>
                </a:solidFill>
                <a:latin typeface="Aptos"/>
              </a:rPr>
              <a:t>Sustentación técnica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2926080" cy="54864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1F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Puertos de entrada</a:t>
            </a:r>
            <a:br/>
            <a:r>
              <a:rPr sz="1300" b="1">
                <a:solidFill>
                  <a:srgbClr val="0B1F3A"/>
                </a:solidFill>
                <a:latin typeface="Aptos"/>
              </a:rPr>
              <a:t>application/usecase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417320"/>
            <a:ext cx="2926080" cy="54864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1F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Implementación</a:t>
            </a:r>
            <a:br/>
            <a:r>
              <a:rPr sz="1300" b="1">
                <a:solidFill>
                  <a:srgbClr val="0B1F3A"/>
                </a:solidFill>
                <a:latin typeface="Aptos"/>
              </a:rPr>
              <a:t>application/service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417320"/>
            <a:ext cx="2926080" cy="54864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Puertos de salida</a:t>
            </a:r>
            <a:br/>
            <a:r>
              <a:rPr sz="1300" b="1">
                <a:solidFill>
                  <a:srgbClr val="0B1F3A"/>
                </a:solidFill>
                <a:latin typeface="Aptos"/>
              </a:rPr>
              <a:t>domain/repository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292608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buChar char="•"/>
              <a:defRPr sz="1300">
                <a:solidFill>
                  <a:srgbClr val="111827"/>
                </a:solidFill>
                <a:latin typeface="Aptos"/>
              </a:defRPr>
            </a:pPr>
            <a:r>
              <a:t>CrearSolicitudCreditoUseCase</a:t>
            </a:r>
          </a:p>
          <a:p>
            <a:pPr algn="l">
              <a:buChar char="•"/>
              <a:defRPr sz="1300">
                <a:solidFill>
                  <a:srgbClr val="111827"/>
                </a:solidFill>
                <a:latin typeface="Aptos"/>
              </a:defRPr>
            </a:pPr>
            <a:r>
              <a:t>EjecutarEvaluacionScoringUseCase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240280"/>
            <a:ext cx="2834640" cy="11430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buChar char="•"/>
              <a:defRPr sz="1300">
                <a:solidFill>
                  <a:srgbClr val="111827"/>
                </a:solidFill>
                <a:latin typeface="Aptos"/>
              </a:defRPr>
            </a:pPr>
            <a:r>
              <a:rPr dirty="0" err="1"/>
              <a:t>CrearSolicitudCreditoService</a:t>
            </a:r>
            <a:endParaRPr dirty="0"/>
          </a:p>
          <a:p>
            <a:pPr algn="l">
              <a:buChar char="•"/>
              <a:defRPr sz="1300">
                <a:solidFill>
                  <a:srgbClr val="111827"/>
                </a:solidFill>
                <a:latin typeface="Aptos"/>
              </a:defRPr>
            </a:pPr>
            <a:r>
              <a:rPr dirty="0" err="1"/>
              <a:t>EjecutarEvaluacionScoringService</a:t>
            </a:r>
            <a:endParaRPr dirty="0"/>
          </a:p>
          <a:p>
            <a:pPr algn="l">
              <a:buChar char="•"/>
              <a:defRPr sz="1300">
                <a:solidFill>
                  <a:srgbClr val="111827"/>
                </a:solidFill>
                <a:latin typeface="Aptos"/>
              </a:defRPr>
            </a:pPr>
            <a:r>
              <a:rPr dirty="0" err="1"/>
              <a:t>Construye</a:t>
            </a:r>
            <a:r>
              <a:rPr dirty="0"/>
              <a:t> </a:t>
            </a:r>
            <a:r>
              <a:rPr dirty="0" err="1"/>
              <a:t>DTO</a:t>
            </a:r>
            <a:r>
              <a:rPr dirty="0"/>
              <a:t> de </a:t>
            </a:r>
            <a:r>
              <a:rPr dirty="0" err="1"/>
              <a:t>respuesta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595360" y="2240280"/>
            <a:ext cx="2560320" cy="11430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buChar char="•"/>
              <a:defRPr sz="1300">
                <a:solidFill>
                  <a:srgbClr val="111827"/>
                </a:solidFill>
                <a:latin typeface="Aptos"/>
              </a:defRPr>
            </a:pPr>
            <a:r>
              <a:t>SolicitudCreditoRepository</a:t>
            </a:r>
          </a:p>
          <a:p>
            <a:pPr algn="l">
              <a:buChar char="•"/>
              <a:defRPr sz="1300">
                <a:solidFill>
                  <a:srgbClr val="111827"/>
                </a:solidFill>
                <a:latin typeface="Aptos"/>
              </a:defRPr>
            </a:pPr>
            <a:r>
              <a:t>ModeloScoringRepository</a:t>
            </a:r>
          </a:p>
          <a:p>
            <a:pPr algn="l">
              <a:buChar char="•"/>
              <a:defRPr sz="1300">
                <a:solidFill>
                  <a:srgbClr val="111827"/>
                </a:solidFill>
                <a:latin typeface="Aptos"/>
              </a:defRPr>
            </a:pPr>
            <a:r>
              <a:t>EvaluacionCrediticiaRepository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49039" y="1691640"/>
            <a:ext cx="868681" cy="0"/>
          </a:xfrm>
          <a:prstGeom prst="line">
            <a:avLst/>
          </a:prstGeom>
          <a:ln w="2286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43800" y="1691640"/>
            <a:ext cx="868680" cy="0"/>
          </a:xfrm>
          <a:prstGeom prst="line">
            <a:avLst/>
          </a:prstGeom>
          <a:ln w="2286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160520"/>
            <a:ext cx="2926080" cy="594360"/>
          </a:xfrm>
          <a:prstGeom prst="roundRect">
            <a:avLst/>
          </a:prstGeom>
          <a:solidFill>
            <a:srgbClr val="F0EEFF"/>
          </a:solidFill>
          <a:ln w="15240">
            <a:solidFill>
              <a:srgbClr val="6D5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Controller llama al UseCase, no a infraestructura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160520"/>
            <a:ext cx="3063240" cy="59436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1F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UseCase orquesta validación + scoring + persistencia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160520"/>
            <a:ext cx="2834640" cy="59436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Repository es una interfaz, no una tecnología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5623560"/>
            <a:ext cx="8046720" cy="457200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697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Application no importa MongoDB, H2, JPA ni Spring Data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 Display"/>
              </a:rPr>
              <a:t>Adaptador de entrada 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300" b="0">
                <a:solidFill>
                  <a:srgbClr val="697586"/>
                </a:solidFill>
                <a:latin typeface="Aptos"/>
              </a:rPr>
              <a:t>El controller no accede directo a infraestructura; entra por casos de uso.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999" cy="201168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84264"/>
            <a:ext cx="548640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750" b="0">
                <a:solidFill>
                  <a:srgbClr val="697586"/>
                </a:solidFill>
                <a:latin typeface="Aptos"/>
              </a:rPr>
              <a:t>Motor Scoring Crediticio · Arquitectura Hexagonal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84264"/>
            <a:ext cx="164592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r"/>
            <a:r>
              <a:rPr sz="750" b="0">
                <a:solidFill>
                  <a:srgbClr val="697586"/>
                </a:solidFill>
                <a:latin typeface="Aptos"/>
              </a:rPr>
              <a:t>Sustentación técnica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64592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5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Postman / Cliente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3035808"/>
            <a:ext cx="777240" cy="0"/>
          </a:xfrm>
          <a:prstGeom prst="line">
            <a:avLst/>
          </a:prstGeom>
          <a:ln w="2159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46120" y="2514600"/>
            <a:ext cx="2331720" cy="1005840"/>
          </a:xfrm>
          <a:prstGeom prst="roundRect">
            <a:avLst/>
          </a:prstGeom>
          <a:solidFill>
            <a:srgbClr val="F0EEFF"/>
          </a:solidFill>
          <a:ln w="15240">
            <a:solidFill>
              <a:srgbClr val="6D5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SolicitudCreditoController</a:t>
            </a:r>
            <a:br/>
            <a:r>
              <a:rPr sz="1200" b="1">
                <a:solidFill>
                  <a:srgbClr val="0B1F3A"/>
                </a:solidFill>
                <a:latin typeface="Aptos"/>
              </a:rPr>
              <a:t>presentation/controller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77840" y="3035808"/>
            <a:ext cx="777240" cy="0"/>
          </a:xfrm>
          <a:prstGeom prst="line">
            <a:avLst/>
          </a:prstGeom>
          <a:ln w="2159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2514600"/>
            <a:ext cx="2103120" cy="100584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1F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UseCase</a:t>
            </a:r>
            <a:br/>
            <a:r>
              <a:rPr sz="1300" b="1">
                <a:solidFill>
                  <a:srgbClr val="0B1F3A"/>
                </a:solidFill>
                <a:latin typeface="Aptos"/>
              </a:rPr>
              <a:t>application/usecase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03920" y="3035808"/>
            <a:ext cx="777240" cy="0"/>
          </a:xfrm>
          <a:prstGeom prst="line">
            <a:avLst/>
          </a:prstGeom>
          <a:ln w="2159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26880" y="2514600"/>
            <a:ext cx="2148840" cy="100584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1F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Application Service</a:t>
            </a:r>
            <a:br/>
            <a:r>
              <a:rPr sz="1200" b="1">
                <a:solidFill>
                  <a:srgbClr val="0B1F3A"/>
                </a:solidFill>
                <a:latin typeface="Aptos"/>
              </a:rPr>
              <a:t>application/service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840480"/>
            <a:ext cx="214884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100" b="0">
                <a:solidFill>
                  <a:srgbClr val="697586"/>
                </a:solidFill>
                <a:latin typeface="Aptos"/>
              </a:rPr>
              <a:t>Request/Response</a:t>
            </a:r>
            <a:br/>
            <a:r>
              <a:rPr sz="1100" b="0">
                <a:solidFill>
                  <a:srgbClr val="697586"/>
                </a:solidFill>
                <a:latin typeface="Aptos"/>
              </a:rPr>
              <a:t>Validación HTTP</a:t>
            </a:r>
            <a:br/>
            <a:r>
              <a:rPr sz="1100" b="0">
                <a:solidFill>
                  <a:srgbClr val="697586"/>
                </a:solidFill>
                <a:latin typeface="Aptos"/>
              </a:rPr>
              <a:t>Swagger</a:t>
            </a:r>
            <a:br/>
            <a:r>
              <a:rPr sz="1100" b="0">
                <a:solidFill>
                  <a:srgbClr val="697586"/>
                </a:solidFill>
                <a:latin typeface="Aptos"/>
              </a:rPr>
              <a:t>ErrorResponse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840480"/>
            <a:ext cx="2011680" cy="7315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100" b="0">
                <a:solidFill>
                  <a:srgbClr val="697586"/>
                </a:solidFill>
                <a:latin typeface="Aptos"/>
              </a:rPr>
              <a:t>Command / DTO</a:t>
            </a:r>
            <a:br/>
            <a:r>
              <a:rPr sz="1100" b="0">
                <a:solidFill>
                  <a:srgbClr val="697586"/>
                </a:solidFill>
                <a:latin typeface="Aptos"/>
              </a:rPr>
              <a:t>Reglas de flujo</a:t>
            </a:r>
            <a:br/>
            <a:r>
              <a:rPr sz="1100" b="0">
                <a:solidFill>
                  <a:srgbClr val="697586"/>
                </a:solidFill>
                <a:latin typeface="Aptos"/>
              </a:rPr>
              <a:t>Orquestación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5212080"/>
            <a:ext cx="8138160" cy="502920"/>
          </a:xfrm>
          <a:prstGeom prst="roundRect">
            <a:avLst/>
          </a:prstGeom>
          <a:solidFill>
            <a:srgbClr val="FFF3D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NO permitido: Controller -&gt; MongoRepository / JpaRepository / Adapter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 Display"/>
              </a:rPr>
              <a:t>Adaptadores de salida: H2 y MongoDB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300" b="0">
                <a:solidFill>
                  <a:srgbClr val="697586"/>
                </a:solidFill>
                <a:latin typeface="Aptos"/>
              </a:rPr>
              <a:t>Ambos implementan los mismos puertos; el núcleo no cambia.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999" cy="201168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84264"/>
            <a:ext cx="548640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750" b="0">
                <a:solidFill>
                  <a:srgbClr val="697586"/>
                </a:solidFill>
                <a:latin typeface="Aptos"/>
              </a:rPr>
              <a:t>Motor Scoring Crediticio · Arquitectura Hexagonal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84264"/>
            <a:ext cx="164592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r"/>
            <a:r>
              <a:rPr sz="750" b="0">
                <a:solidFill>
                  <a:srgbClr val="697586"/>
                </a:solidFill>
                <a:latin typeface="Aptos"/>
              </a:rPr>
              <a:t>Sustentación técnica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43000"/>
            <a:ext cx="3291840" cy="59436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Aptos"/>
              </a:rPr>
              <a:t>Puertos del núcleo</a:t>
            </a:r>
            <a:br/>
            <a:r>
              <a:rPr sz="1400" b="1">
                <a:solidFill>
                  <a:srgbClr val="0B1F3A"/>
                </a:solidFill>
                <a:latin typeface="Aptos"/>
              </a:rPr>
              <a:t>domain/repository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703320" y="1737360"/>
            <a:ext cx="2377440" cy="1005840"/>
          </a:xfrm>
          <a:prstGeom prst="line">
            <a:avLst/>
          </a:prstGeom>
          <a:ln w="2286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1737360"/>
            <a:ext cx="2377440" cy="1005840"/>
          </a:xfrm>
          <a:prstGeom prst="line">
            <a:avLst/>
          </a:prstGeom>
          <a:ln w="2286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7240" y="2743200"/>
            <a:ext cx="3657600" cy="749808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697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H2/JPA</a:t>
            </a:r>
            <a:br/>
            <a:r>
              <a:rPr sz="1300" b="1">
                <a:solidFill>
                  <a:srgbClr val="0B1F3A"/>
                </a:solidFill>
                <a:latin typeface="Aptos"/>
              </a:rPr>
              <a:t>motor-scoring-infrastructure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743200"/>
            <a:ext cx="3657600" cy="749808"/>
          </a:xfrm>
          <a:prstGeom prst="roundRect">
            <a:avLst/>
          </a:prstGeom>
          <a:solidFill>
            <a:srgbClr val="E7FAFF"/>
          </a:solidFill>
          <a:ln w="1524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MongoDB</a:t>
            </a:r>
            <a:br/>
            <a:r>
              <a:rPr sz="1300" b="1">
                <a:solidFill>
                  <a:srgbClr val="0B1F3A"/>
                </a:solidFill>
                <a:latin typeface="Aptos"/>
              </a:rPr>
              <a:t>motor-scoring-adapter-out-mongodb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03320"/>
            <a:ext cx="3291840" cy="1554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JpaEntity</a:t>
            </a:r>
          </a:p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SpringDataRepository</a:t>
            </a:r>
          </a:p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RepositoryAdapter</a:t>
            </a:r>
          </a:p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Flyway V1/V2/V3</a:t>
            </a:r>
          </a:p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@Profile("h2")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703320"/>
            <a:ext cx="3291840" cy="1554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MongoDocument</a:t>
            </a:r>
          </a:p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MongoRepository / MongoTemplate</a:t>
            </a:r>
          </a:p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MongoRepositoryAdapter</a:t>
            </a:r>
          </a:p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MongoReferenceDataInitializer</a:t>
            </a:r>
          </a:p>
          <a:p>
            <a:pPr algn="l">
              <a:buChar char="•"/>
              <a:defRPr sz="1200">
                <a:solidFill>
                  <a:srgbClr val="111827"/>
                </a:solidFill>
                <a:latin typeface="Aptos"/>
              </a:defRPr>
            </a:pPr>
            <a:r>
              <a:t>@Profile("mongodb")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715000"/>
            <a:ext cx="8595360" cy="438912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Cambio de infraestructura = cambia el adaptador activo; Domain y Application permanecen iguales.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 Display"/>
              </a:rPr>
              <a:t>Cómo ejecutar y cambiar la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300" b="0">
                <a:solidFill>
                  <a:srgbClr val="697586"/>
                </a:solidFill>
                <a:latin typeface="Aptos"/>
              </a:rPr>
              <a:t>MongoDB es default; H2 se activa por profile.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999" cy="201168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84264"/>
            <a:ext cx="548640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750" b="0">
                <a:solidFill>
                  <a:srgbClr val="697586"/>
                </a:solidFill>
                <a:latin typeface="Aptos"/>
              </a:rPr>
              <a:t>Motor Scoring Crediticio · Arquitectura Hexagonal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84264"/>
            <a:ext cx="164592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r"/>
            <a:r>
              <a:rPr sz="750" b="0">
                <a:solidFill>
                  <a:srgbClr val="697586"/>
                </a:solidFill>
                <a:latin typeface="Aptos"/>
              </a:rPr>
              <a:t>Sustentación técnica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4937760" cy="438912"/>
          </a:xfrm>
          <a:prstGeom prst="roundRect">
            <a:avLst/>
          </a:prstGeom>
          <a:solidFill>
            <a:srgbClr val="E7FAFF"/>
          </a:solidFill>
          <a:ln w="1524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MongoDB / Docker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526280" cy="9144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Courier New"/>
              </a:rPr>
              <a:t>docker compose up --build -d</a:t>
            </a:r>
            <a:br/>
            <a:br/>
            <a:r>
              <a:rPr sz="1250" b="0">
                <a:solidFill>
                  <a:srgbClr val="111827"/>
                </a:solidFill>
                <a:latin typeface="Courier New"/>
              </a:rPr>
              <a:t># Usa docker-compose.yml</a:t>
            </a:r>
            <a:br/>
            <a:r>
              <a:rPr sz="1250" b="0">
                <a:solidFill>
                  <a:srgbClr val="111827"/>
                </a:solidFill>
                <a:latin typeface="Courier New"/>
              </a:rPr>
              <a:t># SPRING_PROFILES_ACTIVE=mongodb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4937760" cy="438912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697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H2 / Docker alternativo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2075688"/>
            <a:ext cx="5934278" cy="10972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150" b="0" dirty="0">
                <a:solidFill>
                  <a:srgbClr val="111827"/>
                </a:solidFill>
                <a:latin typeface="Courier New"/>
              </a:rPr>
              <a:t>docker compose down</a:t>
            </a:r>
            <a:br>
              <a:rPr dirty="0"/>
            </a:br>
            <a:r>
              <a:rPr sz="1150" b="0" dirty="0">
                <a:solidFill>
                  <a:srgbClr val="111827"/>
                </a:solidFill>
                <a:latin typeface="Courier New"/>
              </a:rPr>
              <a:t>docker compose -f backend-java/docker-compose.h2.yml up --build -d</a:t>
            </a:r>
            <a:br>
              <a:rPr dirty="0"/>
            </a:br>
            <a:br>
              <a:rPr dirty="0"/>
            </a:br>
            <a:r>
              <a:rPr sz="1150" b="0" dirty="0">
                <a:solidFill>
                  <a:srgbClr val="111827"/>
                </a:solidFill>
                <a:latin typeface="Courier New"/>
              </a:rPr>
              <a:t># </a:t>
            </a:r>
            <a:r>
              <a:rPr sz="1150" b="0" dirty="0" err="1">
                <a:solidFill>
                  <a:srgbClr val="111827"/>
                </a:solidFill>
                <a:latin typeface="Courier New"/>
              </a:rPr>
              <a:t>SPRING_PROFILES_ACTIVE</a:t>
            </a:r>
            <a:r>
              <a:rPr sz="1150" b="0" dirty="0">
                <a:solidFill>
                  <a:srgbClr val="111827"/>
                </a:solidFill>
                <a:latin typeface="Courier New"/>
              </a:rPr>
              <a:t>=h2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51960"/>
            <a:ext cx="4937760" cy="438912"/>
          </a:xfrm>
          <a:prstGeom prst="roundRect">
            <a:avLst/>
          </a:prstGeom>
          <a:solidFill>
            <a:srgbClr val="E7FAFF"/>
          </a:solidFill>
          <a:ln w="15240"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Sin Docker: 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92040"/>
            <a:ext cx="452628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ourier New"/>
              </a:rPr>
              <a:t>java -jar motor-scoring-app.jar</a:t>
            </a:r>
            <a:br/>
            <a:r>
              <a:rPr sz="1200" b="0">
                <a:solidFill>
                  <a:srgbClr val="111827"/>
                </a:solidFill>
                <a:latin typeface="Courier New"/>
              </a:rPr>
              <a:t># usa spring.profiles.default=mongodb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251960"/>
            <a:ext cx="4937760" cy="438912"/>
          </a:xfrm>
          <a:prstGeom prst="roundRect">
            <a:avLst/>
          </a:prstGeom>
          <a:solidFill>
            <a:srgbClr val="FFF3D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Sin Docker: 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7776" y="4983480"/>
            <a:ext cx="5608320" cy="4572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150" b="0" dirty="0">
                <a:solidFill>
                  <a:srgbClr val="111827"/>
                </a:solidFill>
                <a:latin typeface="Courier New"/>
              </a:rPr>
              <a:t>java -jar motor-scoring-app.jar --</a:t>
            </a:r>
            <a:r>
              <a:rPr sz="1150" b="0" dirty="0" err="1">
                <a:solidFill>
                  <a:srgbClr val="111827"/>
                </a:solidFill>
                <a:latin typeface="Courier New"/>
              </a:rPr>
              <a:t>spring.profiles.active</a:t>
            </a:r>
            <a:r>
              <a:rPr sz="1150" b="0" dirty="0">
                <a:solidFill>
                  <a:srgbClr val="111827"/>
                </a:solidFill>
                <a:latin typeface="Courier New"/>
              </a:rPr>
              <a:t>=h2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 Display"/>
              </a:rPr>
              <a:t>Spring relaxed binding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27432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300" b="0">
                <a:solidFill>
                  <a:srgbClr val="697586"/>
                </a:solidFill>
                <a:latin typeface="Aptos"/>
              </a:rPr>
              <a:t>Docker pasa una variable; Spring la interpreta como propiedad.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00A6D6"/>
          </a:solidFill>
          <a:ln>
            <a:solidFill>
              <a:srgbClr val="00A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999" cy="201168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84264"/>
            <a:ext cx="548640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l"/>
            <a:r>
              <a:rPr sz="750" b="0">
                <a:solidFill>
                  <a:srgbClr val="697586"/>
                </a:solidFill>
                <a:latin typeface="Aptos"/>
              </a:rPr>
              <a:t>Motor Scoring Crediticio · Arquitectura Hexagonal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684264"/>
            <a:ext cx="1645920" cy="146304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20000"/>
          </a:bodyPr>
          <a:lstStyle/>
          <a:p>
            <a:pPr algn="r"/>
            <a:r>
              <a:rPr sz="750" b="0">
                <a:solidFill>
                  <a:srgbClr val="697586"/>
                </a:solidFill>
                <a:latin typeface="Aptos"/>
              </a:rPr>
              <a:t>Sustentación técnica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2743200" cy="457200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6975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Docker 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251460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ourier New"/>
              </a:rPr>
              <a:t>environment:</a:t>
            </a:r>
            <a:br/>
            <a:r>
              <a:rPr sz="1300" b="0">
                <a:solidFill>
                  <a:srgbClr val="111827"/>
                </a:solidFill>
                <a:latin typeface="Courier New"/>
              </a:rPr>
              <a:t>  SPRING_PROFILES_ACTIVE: h2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03320" y="2331720"/>
            <a:ext cx="1097280" cy="0"/>
          </a:xfrm>
          <a:prstGeom prst="line">
            <a:avLst/>
          </a:prstGeom>
          <a:ln w="2286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92040" y="1417320"/>
            <a:ext cx="2743200" cy="45720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1F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Spring Boot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011680"/>
            <a:ext cx="2377440" cy="64008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lnSpcReduction="10000"/>
          </a:bodyPr>
          <a:lstStyle/>
          <a:p>
            <a:pPr algn="l"/>
            <a:r>
              <a:rPr sz="1300" b="0" dirty="0" err="1">
                <a:solidFill>
                  <a:srgbClr val="111827"/>
                </a:solidFill>
                <a:latin typeface="Courier New"/>
              </a:rPr>
              <a:t>SPRING_PROFILES_ACTIVE</a:t>
            </a:r>
            <a:br>
              <a:rPr dirty="0"/>
            </a:br>
            <a:r>
              <a:rPr sz="1300" b="0" dirty="0">
                <a:solidFill>
                  <a:srgbClr val="111827"/>
                </a:solidFill>
                <a:latin typeface="Courier New"/>
              </a:rPr>
              <a:t>→ </a:t>
            </a:r>
            <a:r>
              <a:rPr sz="1300" b="0" dirty="0" err="1">
                <a:solidFill>
                  <a:srgbClr val="111827"/>
                </a:solidFill>
                <a:latin typeface="Courier New"/>
              </a:rPr>
              <a:t>spring.profiles.active</a:t>
            </a:r>
            <a:endParaRPr sz="1300" b="0" dirty="0">
              <a:solidFill>
                <a:srgbClr val="111827"/>
              </a:solidFill>
              <a:latin typeface="Courier New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7818120" y="2331720"/>
            <a:ext cx="1097280" cy="0"/>
          </a:xfrm>
          <a:prstGeom prst="line">
            <a:avLst/>
          </a:prstGeom>
          <a:ln w="2286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06840" y="1417320"/>
            <a:ext cx="2468880" cy="457200"/>
          </a:xfrm>
          <a:prstGeom prst="roundRect">
            <a:avLst/>
          </a:prstGeom>
          <a:solidFill>
            <a:srgbClr val="FFF3D8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0B1F3A"/>
                </a:solidFill>
                <a:latin typeface="Aptos"/>
              </a:rPr>
              <a:t>Profile activo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011680"/>
            <a:ext cx="2148840" cy="68580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Courier New"/>
              </a:rPr>
              <a:t>h2</a:t>
            </a:r>
            <a:br/>
            <a:r>
              <a:rPr sz="1300" b="0">
                <a:solidFill>
                  <a:srgbClr val="111827"/>
                </a:solidFill>
                <a:latin typeface="Courier New"/>
              </a:rPr>
              <a:t>→ application-h2.yml</a:t>
            </a:r>
            <a:br/>
            <a:r>
              <a:rPr sz="1300" b="0">
                <a:solidFill>
                  <a:srgbClr val="111827"/>
                </a:solidFill>
                <a:latin typeface="Courier New"/>
              </a:rPr>
              <a:t>→ @Profile("h2")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886200"/>
            <a:ext cx="9784080" cy="502920"/>
          </a:xfrm>
          <a:prstGeom prst="roundRect">
            <a:avLst/>
          </a:prstGeom>
          <a:solidFill>
            <a:srgbClr val="E8F7EF"/>
          </a:solidFill>
          <a:ln w="15240">
            <a:solidFill>
              <a:srgbClr val="1B8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1500" b="1">
                <a:solidFill>
                  <a:srgbClr val="0B1F3A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617720"/>
            <a:ext cx="896112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ctr"/>
            <a:r>
              <a:rPr sz="1800" b="1">
                <a:solidFill>
                  <a:srgbClr val="0B1F3A"/>
                </a:solidFill>
                <a:latin typeface="Aptos"/>
              </a:rPr>
              <a:t>MAYÚSCULAS + guiones bajos  →  minúsculas + puntos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74920"/>
            <a:ext cx="8961120" cy="292608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 fontScale="92500" lnSpcReduction="10000"/>
          </a:bodyPr>
          <a:lstStyle/>
          <a:p>
            <a:pPr algn="ctr"/>
            <a:r>
              <a:rPr sz="1800" b="1" dirty="0" err="1">
                <a:solidFill>
                  <a:srgbClr val="00A6D6"/>
                </a:solidFill>
                <a:latin typeface="Aptos"/>
              </a:rPr>
              <a:t>SPRING_PROFILES_ACTIVE</a:t>
            </a:r>
            <a:r>
              <a:rPr sz="1800" b="1" dirty="0">
                <a:solidFill>
                  <a:srgbClr val="00A6D6"/>
                </a:solidFill>
                <a:latin typeface="Aptos"/>
              </a:rPr>
              <a:t>  →  </a:t>
            </a:r>
            <a:r>
              <a:rPr sz="1800" b="1" dirty="0" err="1">
                <a:solidFill>
                  <a:srgbClr val="00A6D6"/>
                </a:solidFill>
                <a:latin typeface="Aptos"/>
              </a:rPr>
              <a:t>spring.profiles.active</a:t>
            </a:r>
            <a:endParaRPr sz="1800" b="1" dirty="0">
              <a:solidFill>
                <a:srgbClr val="00A6D6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11680" y="5715000"/>
            <a:ext cx="8138160" cy="320040"/>
          </a:xfrm>
          <a:prstGeom prst="rect">
            <a:avLst/>
          </a:prstGeom>
          <a:noFill/>
        </p:spPr>
        <p:txBody>
          <a:bodyPr wrap="square" lIns="54864" tIns="27432" rIns="54864" bIns="27432" anchor="t">
            <a:normAutofit/>
          </a:bodyPr>
          <a:lstStyle/>
          <a:p>
            <a:pPr algn="ctr"/>
            <a:r>
              <a:rPr sz="1250" b="0">
                <a:solidFill>
                  <a:srgbClr val="697586"/>
                </a:solidFill>
                <a:latin typeface="Aptos"/>
              </a:rPr>
              <a:t>Nota: si existe spring.profiles.active, tiene prioridad sobre spring.profiles.default=mongodb.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2850</Words>
  <Application>Microsoft Office PowerPoint</Application>
  <PresentationFormat>Widescreen</PresentationFormat>
  <Paragraphs>546</Paragraphs>
  <Slides>34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Aptos</vt:lpstr>
      <vt:lpstr>Aptos Display</vt:lpstr>
      <vt:lpstr>Aptos Mono</vt:lpstr>
      <vt:lpstr>Arial</vt:lpstr>
      <vt:lpstr>Calibri</vt:lpstr>
      <vt:lpstr>Cambria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Motor de Scoring Crediticio</dc:title>
  <dc:subject>Motor de Scoring Crediticio</dc:subject>
  <dc:creator>t51922</dc:creator>
  <cp:lastModifiedBy>José Antonio Julca Díaz</cp:lastModifiedBy>
  <cp:revision>7</cp:revision>
  <dcterms:created xsi:type="dcterms:W3CDTF">2026-08-01T04:00:22Z</dcterms:created>
  <dcterms:modified xsi:type="dcterms:W3CDTF">2026-08-04T03:03:39Z</dcterms:modified>
</cp:coreProperties>
</file>