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D33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1005840"/>
            <a:ext cx="3108960" cy="3108960"/>
          </a:xfrm>
          <a:prstGeom prst="ellipse">
            <a:avLst/>
          </a:prstGeom>
          <a:solidFill>
            <a:srgbClr val="1B2A4A"/>
          </a:solidFill>
          <a:ln w="19050">
            <a:solidFill>
              <a:srgbClr val="1C8C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3200400"/>
            <a:ext cx="2103120" cy="2103120"/>
          </a:xfrm>
          <a:prstGeom prst="ellipse">
            <a:avLst/>
          </a:prstGeom>
          <a:solidFill>
            <a:srgbClr val="116670"/>
          </a:solidFill>
          <a:ln/>
        </p:spPr>
      </p:sp>
      <p:sp>
        <p:nvSpPr>
          <p:cNvPr id="5" name="Shape 3"/>
          <p:cNvSpPr/>
          <p:nvPr/>
        </p:nvSpPr>
        <p:spPr>
          <a:xfrm>
            <a:off x="7955280" y="4206240"/>
            <a:ext cx="1371600" cy="1371600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SCORING CREDITICIO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Ampliación con Mensajería Asíncrona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+ RabbitMQ sobre la Arquitectura Hexagonal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4160520"/>
            <a:ext cx="1463040" cy="0"/>
          </a:xfrm>
          <a:prstGeom prst="line">
            <a:avLst/>
          </a:prstGeom>
          <a:noFill/>
          <a:ln w="31750">
            <a:solidFill>
              <a:srgbClr val="1C8C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343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por correo (RabbitMQ)  ·  Auditoría de evaluaciones (Kafka)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6217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José  ·  Curso de Arquitectura de Software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vamos a recorrer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8C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25880" y="169164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325880" y="2039112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síncrono Hexagonal ya existente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8C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25880" y="274320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y principio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25880" y="3090672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sin tocar el núcleo de scoring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794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8C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25880" y="379476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nuevos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325880" y="4142232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adapters agregados al reactor Maven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4846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8C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325880" y="48463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en Application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325880" y="5193792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y puertos de salida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172200" y="1691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8C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949440" y="169164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949440" y="2039112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Publisher, consumer y notificación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72200" y="2743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8C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949440" y="274320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949440" y="3090672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Publisher, consumer y auditoría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172200" y="3794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8C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949440" y="379476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949440" y="4142232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decorador que conecta todo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172200" y="4846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8C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949440" y="48463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Resiliencia y configuración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949440" y="5193792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Fallos, toggle y Docker Compose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Scoring Crediticio · Arquitectura Hexagonal + RabbitMQ + Kafka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ya existía: un flujo 100% síncrono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endpoint POST /api/solicitudes-credito/{id}/evaluar calcula el puntaje, persiste la evaluación y devuelve el resultado — todo dentro de una única transacción.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256032" cy="256032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889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73405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→ Caso de uso transaccional → Servicio de dominio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256032" cy="256032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2918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323697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CalculadorScoring evalúa 9 factores de riesgo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256032" cy="256032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947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73989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persiste en H2 o MongoDB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256032" cy="256032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2976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424281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 HTTP llega recién tras el COMMIT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0" y="1371600"/>
            <a:ext cx="5257800" cy="4846320"/>
          </a:xfrm>
          <a:prstGeom prst="roundRect">
            <a:avLst>
              <a:gd name="adj" fmla="val 2264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16459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original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66560" y="2240280"/>
            <a:ext cx="4526280" cy="530352"/>
          </a:xfrm>
          <a:prstGeom prst="roundRect">
            <a:avLst>
              <a:gd name="adj" fmla="val 10345"/>
            </a:avLst>
          </a:prstGeom>
          <a:solidFill>
            <a:srgbClr val="24365C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2240280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 → POST /evaluar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892540" y="271576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66560" y="2898648"/>
            <a:ext cx="4526280" cy="530352"/>
          </a:xfrm>
          <a:prstGeom prst="roundRect">
            <a:avLst>
              <a:gd name="adj" fmla="val 10345"/>
            </a:avLst>
          </a:prstGeom>
          <a:solidFill>
            <a:srgbClr val="24365C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2898648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SolicitudCreditoController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892540" y="3374136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766560" y="3557016"/>
            <a:ext cx="4526280" cy="530352"/>
          </a:xfrm>
          <a:prstGeom prst="roundRect">
            <a:avLst>
              <a:gd name="adj" fmla="val 10345"/>
            </a:avLst>
          </a:prstGeom>
          <a:solidFill>
            <a:srgbClr val="24365C"/>
          </a:solidFill>
          <a:ln/>
        </p:spPr>
      </p:sp>
      <p:sp>
        <p:nvSpPr>
          <p:cNvPr id="26" name="Text 24"/>
          <p:cNvSpPr/>
          <p:nvPr/>
        </p:nvSpPr>
        <p:spPr>
          <a:xfrm>
            <a:off x="6903720" y="3557016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EjecutarEvaluacionScoringService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892540" y="4032504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766560" y="4215384"/>
            <a:ext cx="4526280" cy="530352"/>
          </a:xfrm>
          <a:prstGeom prst="roundRect">
            <a:avLst>
              <a:gd name="adj" fmla="val 10345"/>
            </a:avLst>
          </a:prstGeom>
          <a:solidFill>
            <a:srgbClr val="24365C"/>
          </a:solidFill>
          <a:ln/>
        </p:spPr>
      </p:sp>
      <p:sp>
        <p:nvSpPr>
          <p:cNvPr id="29" name="Text 27"/>
          <p:cNvSpPr/>
          <p:nvPr/>
        </p:nvSpPr>
        <p:spPr>
          <a:xfrm>
            <a:off x="6903720" y="4215384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CalculadorScoring + Repository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892540" y="469087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766560" y="4873752"/>
            <a:ext cx="4526280" cy="530352"/>
          </a:xfrm>
          <a:prstGeom prst="roundRect">
            <a:avLst>
              <a:gd name="adj" fmla="val 10345"/>
            </a:avLst>
          </a:prstGeom>
          <a:solidFill>
            <a:srgbClr val="24365C"/>
          </a:solidFill>
          <a:ln/>
        </p:spPr>
      </p:sp>
      <p:sp>
        <p:nvSpPr>
          <p:cNvPr id="32" name="Text 30"/>
          <p:cNvSpPr/>
          <p:nvPr/>
        </p:nvSpPr>
        <p:spPr>
          <a:xfrm>
            <a:off x="6903720" y="4873752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892540" y="534924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766560" y="5532120"/>
            <a:ext cx="4526280" cy="530352"/>
          </a:xfrm>
          <a:prstGeom prst="roundRect">
            <a:avLst>
              <a:gd name="adj" fmla="val 10345"/>
            </a:avLst>
          </a:prstGeom>
          <a:solidFill>
            <a:srgbClr val="1C8C99"/>
          </a:solidFill>
          <a:ln/>
        </p:spPr>
      </p:sp>
      <p:sp>
        <p:nvSpPr>
          <p:cNvPr id="35" name="Text 33"/>
          <p:cNvSpPr/>
          <p:nvPr/>
        </p:nvSpPr>
        <p:spPr>
          <a:xfrm>
            <a:off x="6903720" y="5532120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Respuesta al cliente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Scoring Crediticio · Arquitectura Hexagonal + RabbitMQ + Kafka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Y PRINCIPIO DE DISEÑO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Agregar mensajería sin tocar el núcleo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que la transacción de evaluación termina con éxito, se disparan dos efectos adicionales — pero ni el caso de uso, ni el servicio de dominio, ni el CalculadorScoring cambian una sola línea.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3383280" cy="2834640"/>
          </a:xfrm>
          <a:prstGeom prst="roundRect">
            <a:avLst>
              <a:gd name="adj" fmla="val 3226"/>
            </a:avLst>
          </a:prstGeom>
          <a:solidFill>
            <a:srgbClr val="1B2A4A"/>
          </a:solidFill>
          <a:ln w="12700">
            <a:solidFill>
              <a:srgbClr val="1166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3017520"/>
            <a:ext cx="594360" cy="594360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017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37947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425196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por correo al finalizar la evaluación (simulada por defecto)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51960" y="2697480"/>
            <a:ext cx="3383280" cy="2834640"/>
          </a:xfrm>
          <a:prstGeom prst="roundRect">
            <a:avLst>
              <a:gd name="adj" fmla="val 3226"/>
            </a:avLst>
          </a:prstGeom>
          <a:solidFill>
            <a:srgbClr val="1B2A4A"/>
          </a:solidFill>
          <a:ln w="12700">
            <a:solidFill>
              <a:srgbClr val="1166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3017520"/>
            <a:ext cx="594360" cy="594360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738421" y="3267151"/>
            <a:ext cx="77267" cy="1783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869180" y="3160166"/>
            <a:ext cx="77267" cy="28529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999939" y="3219602"/>
            <a:ext cx="77267" cy="22585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37947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72000" y="425196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inmutable de cada evaluación en un log de eventos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955280" y="2697480"/>
            <a:ext cx="3383280" cy="2834640"/>
          </a:xfrm>
          <a:prstGeom prst="roundRect">
            <a:avLst>
              <a:gd name="adj" fmla="val 3226"/>
            </a:avLst>
          </a:prstGeom>
          <a:solidFill>
            <a:srgbClr val="1B2A4A"/>
          </a:solidFill>
          <a:ln w="12700">
            <a:solidFill>
              <a:srgbClr val="11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5320" y="3017520"/>
            <a:ext cx="594360" cy="594360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19" name="Text 17"/>
          <p:cNvSpPr/>
          <p:nvPr/>
        </p:nvSpPr>
        <p:spPr>
          <a:xfrm>
            <a:off x="8275320" y="3017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75320" y="37947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75320" y="425196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falla de mensajería nunca revierte una evaluación ya persistida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Scoring Crediticio · Arquitectura Hexagonal + RabbitMQ + Kafka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NUEVOS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módulos Maven independientes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agregaron al reactor de backend-java, cada uno con su propio pom.xml. El total pasa de 7 a 11 módulos.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24328" cy="3291840"/>
          </a:xfrm>
          <a:prstGeom prst="roundRect">
            <a:avLst>
              <a:gd name="adj" fmla="val 27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423160"/>
            <a:ext cx="2167128" cy="73152"/>
          </a:xfrm>
          <a:prstGeom prst="roundRect">
            <a:avLst>
              <a:gd name="adj" fmla="val 50000"/>
            </a:avLst>
          </a:prstGeom>
          <a:solidFill>
            <a:srgbClr val="1C8C99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651760"/>
            <a:ext cx="222199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motor-scoring-adapter-out-rabbitmq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49808" y="4480560"/>
            <a:ext cx="2221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el evento de notificación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01568" y="2148840"/>
            <a:ext cx="2624328" cy="3291840"/>
          </a:xfrm>
          <a:prstGeom prst="roundRect">
            <a:avLst>
              <a:gd name="adj" fmla="val 27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30168" y="2423160"/>
            <a:ext cx="2167128" cy="73152"/>
          </a:xfrm>
          <a:prstGeom prst="roundRect">
            <a:avLst>
              <a:gd name="adj" fmla="val 50000"/>
            </a:avLst>
          </a:prstGeom>
          <a:solidFill>
            <a:srgbClr val="1C8C99"/>
          </a:solidFill>
          <a:ln/>
        </p:spPr>
      </p:sp>
      <p:sp>
        <p:nvSpPr>
          <p:cNvPr id="11" name="Text 9"/>
          <p:cNvSpPr/>
          <p:nvPr/>
        </p:nvSpPr>
        <p:spPr>
          <a:xfrm>
            <a:off x="3602736" y="2651760"/>
            <a:ext cx="222199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motor-scoring-adapter-in-rabbitmq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02736" y="4480560"/>
            <a:ext cx="2221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y arma el correo simulado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54496" y="2148840"/>
            <a:ext cx="2624328" cy="3291840"/>
          </a:xfrm>
          <a:prstGeom prst="roundRect">
            <a:avLst>
              <a:gd name="adj" fmla="val 27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83096" y="2423160"/>
            <a:ext cx="2167128" cy="73152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6455664" y="2651760"/>
            <a:ext cx="222199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motor-scoring-adapter-out-kafka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55664" y="4480560"/>
            <a:ext cx="2221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el evento de auditoría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07424" y="2148840"/>
            <a:ext cx="2624328" cy="3291840"/>
          </a:xfrm>
          <a:prstGeom prst="roundRect">
            <a:avLst>
              <a:gd name="adj" fmla="val 27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336024" y="2423160"/>
            <a:ext cx="2167128" cy="73152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9308592" y="2651760"/>
            <a:ext cx="222199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motor-scoring-adapter-in-kafka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308592" y="4480560"/>
            <a:ext cx="2221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y escribe el archivo JSONL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56692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de dependencia se validan con ArchUnit: RabbitMQ y Kafka no se conocen entre sí, y los adapters "in" no dependen de los "out" de su mismo broker.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Scoring Crediticio · Arquitectura Hexagonal + RabbitMQ + Kafka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Contratos compartidos: eventos y puertos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no conoce RabbitTemplate ni KafkaTemplate. Solo define records de evento e interfaces de publicación — los adapters externos son quienes las implementan.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65760" cy="365760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606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application/event/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2971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NotificacionEvaluacionEvent · AuditoriaScoringEvent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3520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application/port/out/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3886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NotificacionEvaluacionPublisher · AuditoriaScoringPublisher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45720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 →  interface Publisher  →  Adapter externo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37160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121D33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1645920"/>
            <a:ext cx="47548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interface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AuditoriaScoringPublisher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publicar(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AuditoriaScoringEvent evento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record AuditoriaScoringEvent(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eventId,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tipoEvento,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LocalDateTime fechaEvento,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Long idEvaluacion,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Long idSolicitud,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puntajeTotal,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resultado,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estado,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versionModelo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{}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Scoring Crediticio · Arquitectura Hexagonal + RabbitMQ + Kafka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Notificación asíncrona por correo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37360"/>
            <a:ext cx="457200" cy="457200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73736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de salida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RabbitMqNotificacionEvaluacionPublisher crea automáticamente Exchange, Queue y Binding al arrancar Spring Boot.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23160" y="3246120"/>
            <a:ext cx="3291840" cy="320040"/>
          </a:xfrm>
          <a:prstGeom prst="roundRect">
            <a:avLst>
              <a:gd name="adj" fmla="val 14286"/>
            </a:avLst>
          </a:prstGeom>
          <a:solidFill>
            <a:srgbClr val="121D33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32461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scoring.events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368503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key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23160" y="3685032"/>
            <a:ext cx="3291840" cy="320040"/>
          </a:xfrm>
          <a:prstGeom prst="roundRect">
            <a:avLst>
              <a:gd name="adj" fmla="val 14286"/>
            </a:avLst>
          </a:prstGeom>
          <a:solidFill>
            <a:srgbClr val="121D33"/>
          </a:solidFill>
          <a:ln/>
        </p:spPr>
      </p:sp>
      <p:sp>
        <p:nvSpPr>
          <p:cNvPr id="14" name="Text 12"/>
          <p:cNvSpPr/>
          <p:nvPr/>
        </p:nvSpPr>
        <p:spPr>
          <a:xfrm>
            <a:off x="2514600" y="368503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scoring.email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412394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23160" y="4123944"/>
            <a:ext cx="3291840" cy="320040"/>
          </a:xfrm>
          <a:prstGeom prst="roundRect">
            <a:avLst>
              <a:gd name="adj" fmla="val 14286"/>
            </a:avLst>
          </a:prstGeom>
          <a:solidFill>
            <a:srgbClr val="121D33"/>
          </a:solidFill>
          <a:ln/>
        </p:spPr>
      </p:sp>
      <p:sp>
        <p:nvSpPr>
          <p:cNvPr id="17" name="Text 15"/>
          <p:cNvSpPr/>
          <p:nvPr/>
        </p:nvSpPr>
        <p:spPr>
          <a:xfrm>
            <a:off x="2514600" y="4123944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scoring.notificaciones.email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" y="4608576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configurable por variables — sin tocar código.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1463040"/>
            <a:ext cx="5349240" cy="4754880"/>
          </a:xfrm>
          <a:prstGeom prst="roundRect">
            <a:avLst>
              <a:gd name="adj" fmla="val 1923"/>
            </a:avLst>
          </a:prstGeom>
          <a:solidFill>
            <a:srgbClr val="1B2A4A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0" y="1737360"/>
            <a:ext cx="457200" cy="457200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78040" y="173736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de entrada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0" y="237744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NotificacionEmailConsumer escucha la cola con @RabbitListener y arma un correo con resultado y puntaje.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0" y="3154680"/>
            <a:ext cx="4800600" cy="1554480"/>
          </a:xfrm>
          <a:prstGeom prst="roundRect">
            <a:avLst>
              <a:gd name="adj" fmla="val 3529"/>
            </a:avLst>
          </a:prstGeom>
          <a:solidFill>
            <a:srgbClr val="121D33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3291840"/>
            <a:ext cx="4434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[RABBITMQ][CORREO SIMULADO]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Para: demo@local.test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Asunto: Resultado de evaluación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scoring - Solicitud 10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83680" y="544068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defecto el envío SMTP está desactivado; se activa con SCORING_EMAIL_ENABLED=true.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Scoring Crediticio · Arquitectura Hexagonal + RabbitMQ + Kafka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Auditoría inmutable de evaluaciones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3736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73736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de salida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KafkaAuditoriaScoringPublisher publica el evento EVALUACION_SCORING_COMPLETADA usando el id de solicitud como key.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23160" y="3337560"/>
            <a:ext cx="3291840" cy="320040"/>
          </a:xfrm>
          <a:prstGeom prst="roundRect">
            <a:avLst>
              <a:gd name="adj" fmla="val 14286"/>
            </a:avLst>
          </a:prstGeom>
          <a:solidFill>
            <a:srgbClr val="121D33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33375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scoring.evaluaciones.auditoria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388620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del evento: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25196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C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eventId · tipoEvento · fechaEvento · idEvaluacion · idSolicitud · puntajeTotal · resultado · estado · versionModelo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544068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Separada de las tablas y colecciones funcionales: no altera el modelo de scoring actual.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1463040"/>
            <a:ext cx="5349240" cy="4754880"/>
          </a:xfrm>
          <a:prstGeom prst="roundRect">
            <a:avLst>
              <a:gd name="adj" fmla="val 1923"/>
            </a:avLst>
          </a:prstGeom>
          <a:solidFill>
            <a:srgbClr val="1B2A4A"/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0" y="1737360"/>
            <a:ext cx="457200" cy="457200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78040" y="173736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de entrada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83680" y="237744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AuditoriaScoringConsumer escribe cada evento como una línea JSON en un archivo append-only.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0" y="3063240"/>
            <a:ext cx="4800600" cy="914400"/>
          </a:xfrm>
          <a:prstGeom prst="roundRect">
            <a:avLst>
              <a:gd name="adj" fmla="val 6000"/>
            </a:avLst>
          </a:prstGeom>
          <a:solidFill>
            <a:srgbClr val="121D33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306324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/app/audit/auditoria-scoring.jsonl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4160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Persistido en el volumen Docker motor_scoring_audit_data — sobrevive a reinicios del contenedor.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83680" y="553212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[KAFKA][AUDITORIA] Evento ... registrado para solicitud 10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Scoring Crediticio · Arquitectura Hexagonal + RabbitMQ + Kafka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decorador que conecta todo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49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PublicarEventosEvaluacionUseCase implementa la misma interfaz que el caso de uso original y lo envuelve: ejecuta el scoring, publica los eventos, y devuelve exactamente el mismo resultado.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56032" cy="256032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8346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761488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Decorator: mismo contrato, comportamiento extendido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401568"/>
            <a:ext cx="256032" cy="256032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4015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3328416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modifica EjecutarEvaluacionScoringService ni CalculadorScoring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968496"/>
            <a:ext cx="256032" cy="256032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9684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895344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Composition Root (OnionBeanConfiguration) decide si se activa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535424"/>
            <a:ext cx="256032" cy="256032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5354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4462272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@ConditionalOnProperty se puede desactivar sin recompilar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137160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4F7F9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1691640"/>
            <a:ext cx="47548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1691640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823960" y="220370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0" y="2377440"/>
            <a:ext cx="47548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2377440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EjecutarEvaluacionScoringUseCase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823960" y="288950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0" y="3063240"/>
            <a:ext cx="4754880" cy="566928"/>
          </a:xfrm>
          <a:prstGeom prst="roundRect">
            <a:avLst>
              <a:gd name="adj" fmla="val 9677"/>
            </a:avLst>
          </a:prstGeom>
          <a:solidFill>
            <a:srgbClr val="1C8C99"/>
          </a:solidFill>
          <a:ln/>
          <a:effectLst>
            <a:outerShdw sx="100000" sy="100000" kx="0" ky="0" algn="bl" rotWithShape="0" blurRad="63500" dist="25400" dir="5400000">
              <a:srgbClr val="11667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66560" y="3063240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PublicarEventosEvaluacionUseCase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823960" y="357530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0" y="3749040"/>
            <a:ext cx="47548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3749040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TransactionalEjecutarEvaluacionScoringUseCase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823960" y="426110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83680" y="4434840"/>
            <a:ext cx="47548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0" y="4434840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EjecutarEvaluacionScoringService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823960" y="494690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583680" y="5120640"/>
            <a:ext cx="4754880" cy="566928"/>
          </a:xfrm>
          <a:prstGeom prst="roundRect">
            <a:avLst>
              <a:gd name="adj" fmla="val 9677"/>
            </a:avLst>
          </a:prstGeom>
          <a:solidFill>
            <a:srgbClr val="1B2A4A"/>
          </a:solidFill>
          <a:ln/>
        </p:spPr>
      </p:sp>
      <p:sp>
        <p:nvSpPr>
          <p:cNvPr id="34" name="Text 32"/>
          <p:cNvSpPr/>
          <p:nvPr/>
        </p:nvSpPr>
        <p:spPr>
          <a:xfrm>
            <a:off x="6766560" y="5120640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RabbitMQ  +  Kafka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Scoring Crediticio · Arquitectura Hexagonal + RabbitMQ + Kafka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COMPLETO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petición HTTP a la auditoría persistida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926080" cy="548640"/>
          </a:xfrm>
          <a:prstGeom prst="roundRect">
            <a:avLst>
              <a:gd name="adj" fmla="val 10000"/>
            </a:avLst>
          </a:prstGeom>
          <a:solidFill>
            <a:srgbClr val="24365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91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→ POST /evaluar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828800" y="2276856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368296"/>
            <a:ext cx="2926080" cy="548640"/>
          </a:xfrm>
          <a:prstGeom prst="roundRect">
            <a:avLst>
              <a:gd name="adj" fmla="val 10000"/>
            </a:avLst>
          </a:prstGeom>
          <a:solidFill>
            <a:srgbClr val="24365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368296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+ Caso de uso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828800" y="295351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44952"/>
            <a:ext cx="2926080" cy="548640"/>
          </a:xfrm>
          <a:prstGeom prst="roundRect">
            <a:avLst>
              <a:gd name="adj" fmla="val 10000"/>
            </a:avLst>
          </a:prstGeom>
          <a:solidFill>
            <a:srgbClr val="24365C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04495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+ Persistencia (H2/MongoDB)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28800" y="363016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21608"/>
            <a:ext cx="2926080" cy="548640"/>
          </a:xfrm>
          <a:prstGeom prst="roundRect">
            <a:avLst>
              <a:gd name="adj" fmla="val 10000"/>
            </a:avLst>
          </a:prstGeom>
          <a:solidFill>
            <a:srgbClr val="24365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72160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535424"/>
            <a:ext cx="2926080" cy="548640"/>
          </a:xfrm>
          <a:prstGeom prst="roundRect">
            <a:avLst>
              <a:gd name="adj" fmla="val 10000"/>
            </a:avLst>
          </a:prstGeom>
          <a:solidFill>
            <a:srgbClr val="1C8C99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53542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HTTP al cliente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0" y="3657600"/>
            <a:ext cx="914400" cy="0"/>
          </a:xfrm>
          <a:prstGeom prst="line">
            <a:avLst/>
          </a:prstGeom>
          <a:noFill/>
          <a:ln w="19050">
            <a:solidFill>
              <a:srgbClr val="1C8C99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709160" y="196596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 w="12700">
            <a:solidFill>
              <a:srgbClr val="1C8C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37760" y="2167128"/>
            <a:ext cx="411480" cy="411480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21671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48640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83480" y="26517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7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scoring.notificaciones.email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7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NotificacionEmailConsumer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7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correo simulado en logs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365760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 w="12700">
            <a:solidFill>
              <a:srgbClr val="1C8C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3858768"/>
            <a:ext cx="411480" cy="411480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25" name="Shape 23"/>
          <p:cNvSpPr/>
          <p:nvPr/>
        </p:nvSpPr>
        <p:spPr>
          <a:xfrm>
            <a:off x="5052974" y="4031590"/>
            <a:ext cx="53492" cy="1234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5143500" y="3957523"/>
            <a:ext cx="53492" cy="1975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5234026" y="3998671"/>
            <a:ext cx="53492" cy="1563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0" y="3840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83480" y="43434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7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scoring.evaluaciones.auditoria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7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AuditoriaScoringConsumer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7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auditoria-scoring.jsonl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74720" y="2743200"/>
            <a:ext cx="1234440" cy="-548640"/>
          </a:xfrm>
          <a:prstGeom prst="line">
            <a:avLst/>
          </a:prstGeom>
          <a:noFill/>
          <a:ln w="15875">
            <a:solidFill>
              <a:srgbClr val="1C8C9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0" y="2743200"/>
            <a:ext cx="1234440" cy="960120"/>
          </a:xfrm>
          <a:prstGeom prst="line">
            <a:avLst/>
          </a:prstGeom>
          <a:noFill/>
          <a:ln w="15875">
            <a:solidFill>
              <a:srgbClr val="1C8C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75320" y="1965960"/>
            <a:ext cx="3337560" cy="3108960"/>
          </a:xfrm>
          <a:prstGeom prst="roundRect">
            <a:avLst>
              <a:gd name="adj" fmla="val 2941"/>
            </a:avLst>
          </a:prstGeom>
          <a:solidFill>
            <a:srgbClr val="24365C"/>
          </a:solidFill>
          <a:ln/>
        </p:spPr>
      </p:sp>
      <p:sp>
        <p:nvSpPr>
          <p:cNvPr id="33" name="Text 31"/>
          <p:cNvSpPr/>
          <p:nvPr/>
        </p:nvSpPr>
        <p:spPr>
          <a:xfrm>
            <a:off x="8549640" y="2194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Independencia total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549640" y="2606040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ramas se ejecutan después del COMMIT. La Web no espera, no hace polling y no cambia de contrato.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549640" y="370332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9F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falla en RabbitMQ o Kafka no revierte una evaluación ya persistida.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Scoring Crediticio · Arquitectura Hexagonal + RabbitMQ + Kafka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fallo de mensajería nunca revierte una evaluación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PublicarEventosEvaluacionUseCase captura cada publicación en su propio try/catch. El resultado del scoring ya fue devuelto por el caso de uso transaccional antes de que RabbitMQ o Kafka entren en juego.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1064240" cy="1874520"/>
          </a:xfrm>
          <a:prstGeom prst="roundRect">
            <a:avLst>
              <a:gd name="adj" fmla="val 3902"/>
            </a:avLst>
          </a:prstGeom>
          <a:solidFill>
            <a:srgbClr val="121D3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514600"/>
            <a:ext cx="10424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notificaciones.publicar(evento);           try {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(RuntimeException ex) {                    auditoria.publicar(evento);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log.error("La evaluación {} fue completada, "  } catch (RuntimeException ex) {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 "pero no se pudo publicar "                  log.error("... no se pudo publicar la auditoría Kafka.", ...);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 "la notificación RabbitMQ.", ...);       }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46177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72744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52120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46177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472744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74720" y="52120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(MongoDB/H2)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46177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472744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63640" y="52120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15400" y="46177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15400" y="472744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052560" y="52120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devuelto al cliente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580644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evaluación se considera exitosa aunque RabbitMQ falle.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Scoring Crediticio · Arquitectura Hexagonal + RabbitMQ + Kafka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Mensajería activable por propiedad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49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Composition Root expone tres beans condicionados por motor-scoring.messaging.enabled, sin recompilar nada para desactivar RabbitMQ y Kafka.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349240" cy="777240"/>
          </a:xfrm>
          <a:prstGeom prst="roundRect">
            <a:avLst>
              <a:gd name="adj" fmla="val 8235"/>
            </a:avLst>
          </a:prstGeom>
          <a:solidFill>
            <a:srgbClr val="F4F7F9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58775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evaluarTransactional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28986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core transaccional, siempre presente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5349240" cy="777240"/>
          </a:xfrm>
          <a:prstGeom prst="roundRect">
            <a:avLst>
              <a:gd name="adj" fmla="val 8235"/>
            </a:avLst>
          </a:prstGeom>
          <a:solidFill>
            <a:srgbClr val="F4F7F9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50215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evaluarConMensajeria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38130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@Primary si messaging.enabled = true (default)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4343400"/>
            <a:ext cx="5349240" cy="777240"/>
          </a:xfrm>
          <a:prstGeom prst="roundRect">
            <a:avLst>
              <a:gd name="adj" fmla="val 8235"/>
            </a:avLst>
          </a:prstGeom>
          <a:solidFill>
            <a:srgbClr val="F4F7F9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41655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evaluarSinMensajeria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47274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@Primary si messaging.enabled = false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63640" y="137160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121D33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1600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application.yml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2011680"/>
            <a:ext cx="47548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motor-scoring: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messaging: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enabled: ${SCORING_MESSAGING_ENABLED:true}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rabbitmq: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exchange: ${..._EXCHANGE:scoring.events}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email-queue: ${..._EMAIL_QUEUE:...}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kafka: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audit-topic: ${..._AUDIT_TOPIC:...}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audit: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file: ${SCORING_AUDIT_FILE: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./data/audit/auditoria-scoring.jsonl}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notification: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email: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enabled: ${SCORING_EMAIL_ENABLED:false}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Scoring Crediticio · Arquitectura Hexagonal + RabbitMQ + Kafka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Y GOBIERNO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Compose y reglas ArchUnit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37360"/>
            <a:ext cx="457200" cy="457200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11096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8C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6424" y="1911096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8C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4692" y="2066544"/>
            <a:ext cx="1371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8C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73736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servicios nuevos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423160"/>
            <a:ext cx="4892040" cy="731520"/>
          </a:xfrm>
          <a:prstGeom prst="roundRect">
            <a:avLst>
              <a:gd name="adj" fmla="val 7500"/>
            </a:avLst>
          </a:prstGeom>
          <a:solidFill>
            <a:srgbClr val="121D33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496312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motor-scoring-rabbitmq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05840" y="2788920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rabbitmq:4-management · puertos 5672 / 15672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3291840"/>
            <a:ext cx="4892040" cy="731520"/>
          </a:xfrm>
          <a:prstGeom prst="roundRect">
            <a:avLst>
              <a:gd name="adj" fmla="val 7500"/>
            </a:avLst>
          </a:prstGeom>
          <a:solidFill>
            <a:srgbClr val="121D33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364992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motor-scoring-kafka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05840" y="3657600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apache/kafka:4.3.1 · modo KRaft, sin ZooKeeper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420624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API depende de rabbitmq (service_healthy) y kafka (service_started). La auditoría se persiste en el volumen motor_scoring_audit_data.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1463040"/>
            <a:ext cx="5349240" cy="4754880"/>
          </a:xfrm>
          <a:prstGeom prst="roundRect">
            <a:avLst>
              <a:gd name="adj" fmla="val 1923"/>
            </a:avLst>
          </a:prstGeom>
          <a:solidFill>
            <a:srgbClr val="1B2A4A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0" y="1737360"/>
            <a:ext cx="457200" cy="457200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178040" y="173736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ArchUnit ampliadas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83680" y="2423160"/>
            <a:ext cx="237744" cy="237744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24231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67728" y="23774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no depende de rabbitmq ni kafka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83680" y="3081528"/>
            <a:ext cx="237744" cy="237744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308152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67728" y="303580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no depende de kafka, y viceversa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83680" y="3739896"/>
            <a:ext cx="237744" cy="237744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373989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67728" y="369417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adapters "in" no dependen de los "out" de su mismo broker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583680" y="4489704"/>
            <a:ext cx="4800600" cy="1051560"/>
          </a:xfrm>
          <a:prstGeom prst="roundRect">
            <a:avLst>
              <a:gd name="adj" fmla="val 5217"/>
            </a:avLst>
          </a:prstGeom>
          <a:solidFill>
            <a:srgbClr val="121D33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0" y="4599432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noClasses().that().resideInAPackage("..rabbitmq..")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.should().dependOnClassesThat()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.resideInAPackage("..kafka..");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Scoring Crediticio · Arquitectura Hexagonal + RabbitMQ + Kafka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114800" cy="41148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-2651760" y="5029200"/>
            <a:ext cx="2743200" cy="2743200"/>
          </a:xfrm>
          <a:prstGeom prst="ellipse">
            <a:avLst/>
          </a:prstGeom>
          <a:solidFill>
            <a:srgbClr val="11667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amplió el sistema sin comprometer la Arquitectura Hexagonal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1E3054"/>
          </a:solidFill>
          <a:ln w="12700">
            <a:solidFill>
              <a:srgbClr val="1166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46888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&amp; Adapters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y Kafka son adapters externos; Application solo conoce interfaces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224028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1E3054"/>
          </a:solidFill>
          <a:ln w="12700">
            <a:solidFill>
              <a:srgbClr val="1166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246888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46520" y="292608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PublicarEventosEvaluacionUseCase extiende comportamiento sin modificar el core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1E3054"/>
          </a:solidFill>
          <a:ln w="12700">
            <a:solidFill>
              <a:srgbClr val="1166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43484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Open/Closed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68680" y="489204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se abrió a nueva funcionalidad sin cerrar ni tocar código existente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420624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1E3054"/>
          </a:solidFill>
          <a:ln w="12700">
            <a:solidFill>
              <a:srgbClr val="1166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443484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de fallos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446520" y="489204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efectos secundarios asíncronos nunca comprometen la transacción principal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Scoring Crediticio · Arquitectura Hexagonal + RabbitMQ + Kafka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2026-08-20T03:55:03Z</dcterms:created>
  <dcterms:modified xsi:type="dcterms:W3CDTF">2026-08-20T03:55:03Z</dcterms:modified>
</cp:coreProperties>
</file>