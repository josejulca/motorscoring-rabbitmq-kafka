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0" d="100"/>
          <a:sy n="120" d="100"/>
        </p:scale>
        <p:origin x="19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6156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8869680" y="1005840"/>
            <a:ext cx="3108960" cy="310896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4" name="Shape 2"/>
          <p:cNvSpPr/>
          <p:nvPr/>
        </p:nvSpPr>
        <p:spPr>
          <a:xfrm>
            <a:off x="9601200" y="3200400"/>
            <a:ext cx="2103120" cy="2103120"/>
          </a:xfrm>
          <a:prstGeom prst="ellipse">
            <a:avLst/>
          </a:prstGeom>
          <a:solidFill>
            <a:srgbClr val="11667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7955280" y="4206240"/>
            <a:ext cx="1371600" cy="137160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Ampliación con Mensajería Asíncrona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Kafka + RabbitMQ sobre la Arquitectura Hexagonal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4160520"/>
            <a:ext cx="1463040" cy="0"/>
          </a:xfrm>
          <a:prstGeom prst="line">
            <a:avLst/>
          </a:prstGeom>
          <a:noFill/>
          <a:ln w="3175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640080" y="4343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por correo (RabbitMQ)  ·  Auditoría de evaluaciones (Kafka)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6217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49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José  ·  Curso de Arquitectura de Software</a:t>
            </a:r>
            <a:endParaRPr lang="en-US" sz="11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0B41EF70-6114-1004-F220-488F0BEC9BB1}"/>
              </a:ext>
            </a:extLst>
          </p:cNvPr>
          <p:cNvSpPr/>
          <p:nvPr/>
        </p:nvSpPr>
        <p:spPr>
          <a:xfrm>
            <a:off x="658368" y="4782047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José Julca Díaz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vamos a recorrer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C8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325880" y="169164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325880" y="2039112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síncrono Hexagonal ya existente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C8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325880" y="27432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y principio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325880" y="3090672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sin tocar el núcleo de scoring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3794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C8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25880" y="379476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nuevos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325880" y="4142232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adapters agregados al reactor Maven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C8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325880" y="484632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en Application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325880" y="5193792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y puertos de salida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172200" y="16916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C8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169164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949440" y="2039112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Publisher, consumer y notificación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172200" y="27432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C8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949440" y="274320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949440" y="3090672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Publisher, consumer y auditoría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172200" y="3794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C8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949440" y="379476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949440" y="4142232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decorador que conecta todo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172200" y="4846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C8C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949440" y="484632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Resiliencia y configuración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949440" y="5193792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Fallos, toggle y Docker Compose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existía: un flujo 100% síncrono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endpoint POST /api/solicitudes-credito/{id}/evaluar calcula el puntaje, persiste la evaluación y devuelve el resultado — todo dentro de una única transacción.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256032" cy="256032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548640" y="278892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73405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Caso de uso transaccional → Servicio de dominio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256032" cy="256032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23697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CalculadorScoring evalúa 9 factores de riesgo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256032" cy="256032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548640" y="37947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373989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persiste en H2 o MongoDB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256032" cy="256032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548640" y="4297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428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HTTP llega recién tras el COMMIT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0" y="1371600"/>
            <a:ext cx="5257800" cy="4846320"/>
          </a:xfrm>
          <a:prstGeom prst="roundRect">
            <a:avLst>
              <a:gd name="adj" fmla="val 2264"/>
            </a:avLst>
          </a:prstGeom>
          <a:solidFill>
            <a:srgbClr val="1B2A4A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8" name="Text 16"/>
          <p:cNvSpPr/>
          <p:nvPr/>
        </p:nvSpPr>
        <p:spPr>
          <a:xfrm>
            <a:off x="6766560" y="1645920"/>
            <a:ext cx="4526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original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66560" y="2240280"/>
            <a:ext cx="4526280" cy="530352"/>
          </a:xfrm>
          <a:prstGeom prst="roundRect">
            <a:avLst>
              <a:gd name="adj" fmla="val 10345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6903720" y="2240280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POST /evaluar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92540" y="2715768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2898648"/>
            <a:ext cx="4526280" cy="530352"/>
          </a:xfrm>
          <a:prstGeom prst="roundRect">
            <a:avLst>
              <a:gd name="adj" fmla="val 10345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3" name="Text 21"/>
          <p:cNvSpPr/>
          <p:nvPr/>
        </p:nvSpPr>
        <p:spPr>
          <a:xfrm>
            <a:off x="6903720" y="2898648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SolicitudCreditoController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892540" y="3374136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66560" y="3557016"/>
            <a:ext cx="4526280" cy="530352"/>
          </a:xfrm>
          <a:prstGeom prst="roundRect">
            <a:avLst>
              <a:gd name="adj" fmla="val 10345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Text 24"/>
          <p:cNvSpPr/>
          <p:nvPr/>
        </p:nvSpPr>
        <p:spPr>
          <a:xfrm>
            <a:off x="6903720" y="3557016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EjecutarEvaluacionScoringService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892540" y="4032504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766560" y="4215384"/>
            <a:ext cx="4526280" cy="530352"/>
          </a:xfrm>
          <a:prstGeom prst="roundRect">
            <a:avLst>
              <a:gd name="adj" fmla="val 10345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9" name="Text 27"/>
          <p:cNvSpPr/>
          <p:nvPr/>
        </p:nvSpPr>
        <p:spPr>
          <a:xfrm>
            <a:off x="6903720" y="4215384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CalculadorScoring + Repository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892540" y="4690872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766560" y="4873752"/>
            <a:ext cx="4526280" cy="530352"/>
          </a:xfrm>
          <a:prstGeom prst="roundRect">
            <a:avLst>
              <a:gd name="adj" fmla="val 10345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2" name="Text 30"/>
          <p:cNvSpPr/>
          <p:nvPr/>
        </p:nvSpPr>
        <p:spPr>
          <a:xfrm>
            <a:off x="6903720" y="4873752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2540" y="5349240"/>
            <a:ext cx="274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66560" y="5532120"/>
            <a:ext cx="4526280" cy="530352"/>
          </a:xfrm>
          <a:prstGeom prst="roundRect">
            <a:avLst>
              <a:gd name="adj" fmla="val 10345"/>
            </a:avLst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5" name="Text 33"/>
          <p:cNvSpPr/>
          <p:nvPr/>
        </p:nvSpPr>
        <p:spPr>
          <a:xfrm>
            <a:off x="6903720" y="5532120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Respuesta al cliente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Y PRINCIPIO DE DISEÑO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Agregar mensajería sin tocar el núcleo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de que la transacción de evaluación termina con éxito, se disparan dos efectos adicionales — pero ni el caso de uso, ni el servicio de dominio, ni el CalculadorScoring cambian una sola línea.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97480"/>
            <a:ext cx="3383280" cy="2834640"/>
          </a:xfrm>
          <a:prstGeom prst="roundRect">
            <a:avLst>
              <a:gd name="adj" fmla="val 3226"/>
            </a:avLst>
          </a:prstGeom>
          <a:solidFill>
            <a:srgbClr val="1B2A4A"/>
          </a:solidFill>
          <a:ln w="12700">
            <a:solidFill>
              <a:srgbClr val="11667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868680" y="3017520"/>
            <a:ext cx="594360" cy="59436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868680" y="30175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794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42519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por correo al finalizar la evaluación (simulada por defecto)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51960" y="2697480"/>
            <a:ext cx="3383280" cy="2834640"/>
          </a:xfrm>
          <a:prstGeom prst="roundRect">
            <a:avLst>
              <a:gd name="adj" fmla="val 3226"/>
            </a:avLst>
          </a:prstGeom>
          <a:solidFill>
            <a:srgbClr val="1B2A4A"/>
          </a:solidFill>
          <a:ln w="12700">
            <a:solidFill>
              <a:srgbClr val="11667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Shape 9"/>
          <p:cNvSpPr/>
          <p:nvPr/>
        </p:nvSpPr>
        <p:spPr>
          <a:xfrm>
            <a:off x="4572000" y="3017520"/>
            <a:ext cx="594360" cy="59436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Shape 10"/>
          <p:cNvSpPr/>
          <p:nvPr/>
        </p:nvSpPr>
        <p:spPr>
          <a:xfrm>
            <a:off x="4738421" y="3267151"/>
            <a:ext cx="77267" cy="17830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3" name="Shape 11"/>
          <p:cNvSpPr/>
          <p:nvPr/>
        </p:nvSpPr>
        <p:spPr>
          <a:xfrm>
            <a:off x="4869180" y="3160166"/>
            <a:ext cx="77267" cy="285293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Shape 12"/>
          <p:cNvSpPr/>
          <p:nvPr/>
        </p:nvSpPr>
        <p:spPr>
          <a:xfrm>
            <a:off x="4999939" y="3219602"/>
            <a:ext cx="77267" cy="22585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4572000" y="3794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572000" y="42519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inmutable de cada evaluación en un log de eventos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955280" y="2697480"/>
            <a:ext cx="3383280" cy="2834640"/>
          </a:xfrm>
          <a:prstGeom prst="roundRect">
            <a:avLst>
              <a:gd name="adj" fmla="val 3226"/>
            </a:avLst>
          </a:prstGeom>
          <a:solidFill>
            <a:srgbClr val="1B2A4A"/>
          </a:solidFill>
          <a:ln w="12700">
            <a:solidFill>
              <a:srgbClr val="11667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8275320" y="3017520"/>
            <a:ext cx="594360" cy="59436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8275320" y="30175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75320" y="37947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275320" y="425196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falla de mensajería nunca revierte una evaluación ya persistida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NUEVOS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módulos Maven independientes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agregaron al reactor de backend-java, cada uno con su propio pom.xml. El total pasa de 7 a 11 módulos.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24328" cy="329184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777240" y="2423160"/>
            <a:ext cx="2167128" cy="73152"/>
          </a:xfrm>
          <a:prstGeom prst="roundRect">
            <a:avLst>
              <a:gd name="adj" fmla="val 50000"/>
            </a:avLst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749808" y="2651760"/>
            <a:ext cx="22219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motor-scoring-adapter-out-rabbitmq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49808" y="4480560"/>
            <a:ext cx="22219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el evento de notificación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01568" y="2148840"/>
            <a:ext cx="2624328" cy="329184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0" name="Shape 8"/>
          <p:cNvSpPr/>
          <p:nvPr/>
        </p:nvSpPr>
        <p:spPr>
          <a:xfrm>
            <a:off x="3630168" y="2423160"/>
            <a:ext cx="2167128" cy="73152"/>
          </a:xfrm>
          <a:prstGeom prst="roundRect">
            <a:avLst>
              <a:gd name="adj" fmla="val 50000"/>
            </a:avLst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3602736" y="2651760"/>
            <a:ext cx="22219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motor-scoring-adapter-in-rabbitmq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602736" y="4480560"/>
            <a:ext cx="22219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y arma el correo simulado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54496" y="2148840"/>
            <a:ext cx="2624328" cy="329184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4" name="Shape 12"/>
          <p:cNvSpPr/>
          <p:nvPr/>
        </p:nvSpPr>
        <p:spPr>
          <a:xfrm>
            <a:off x="6483096" y="2423160"/>
            <a:ext cx="2167128" cy="7315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6455664" y="2651760"/>
            <a:ext cx="22219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motor-scoring-adapter-out-kafka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55664" y="4480560"/>
            <a:ext cx="22219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el evento de auditoría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07424" y="2148840"/>
            <a:ext cx="2624328" cy="329184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A4A">
                <a:alpha val="15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9336024" y="2423160"/>
            <a:ext cx="2167128" cy="73152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9308592" y="2651760"/>
            <a:ext cx="222199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motor-scoring-adapter-in-kafka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308592" y="4480560"/>
            <a:ext cx="222199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 y escribe el archivo JSONL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5669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 dependencia se validan con ArchUnit: RabbitMQ y Kafka no se conocen entre sí, y los adapters "in" no dependen de los "out" de su mismo broker.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Contratos compartidos: eventos y puertos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94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no conoce RabbitTemplate ni KafkaTemplate. Solo define records de evento e interfaces de publicación — los adapters externos son quienes las implementan.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65760" cy="36576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51560" y="2606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application/event/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971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NotificacionEvaluacionEvent · AuditoriaScoringEvent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520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application/port/out/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51560" y="38862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NotificacionEvaluacionPublisher · AuditoriaScoringPublisher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5720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 →  interface Publisher  →  Adapter externo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371600"/>
            <a:ext cx="5394960" cy="4846320"/>
          </a:xfrm>
          <a:prstGeom prst="roundRect">
            <a:avLst>
              <a:gd name="adj" fmla="val 1887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6583680" y="1645920"/>
            <a:ext cx="4754880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AuditoriaScoringPublisher {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publicar(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AuditoriaScoringEvent evento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);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AuditoriaScoringEvent(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eventId,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tipoEvento,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LocalDateTime fechaEvento,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Long idEvaluacion,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Long idSolicitud,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puntajeTotal,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resultado,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estado,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versionModelo</a:t>
            </a:r>
            <a:endParaRPr lang="en-US" sz="11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{}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Notificación asíncrona por correo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A4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de salida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4892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RabbitMqNotificacionEvaluacionPublisher crea automáticamente Exchange, Queue y Binding al arrancar Spring Boot.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23160" y="3246120"/>
            <a:ext cx="3291840" cy="320040"/>
          </a:xfrm>
          <a:prstGeom prst="roundRect">
            <a:avLst>
              <a:gd name="adj" fmla="val 14286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2514600" y="324612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scoring.events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685032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key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23160" y="3685032"/>
            <a:ext cx="3291840" cy="320040"/>
          </a:xfrm>
          <a:prstGeom prst="roundRect">
            <a:avLst>
              <a:gd name="adj" fmla="val 14286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2514600" y="3685032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scoring.email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123944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23160" y="4123944"/>
            <a:ext cx="3291840" cy="320040"/>
          </a:xfrm>
          <a:prstGeom prst="roundRect">
            <a:avLst>
              <a:gd name="adj" fmla="val 14286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2514600" y="4123944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scoring.notificaciones.email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608576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configurable por variables — sin tocar código.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Shape 18"/>
          <p:cNvSpPr/>
          <p:nvPr/>
        </p:nvSpPr>
        <p:spPr>
          <a:xfrm>
            <a:off x="6583680" y="1737360"/>
            <a:ext cx="457200" cy="45720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658368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178040" y="173736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de entrada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4800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NotificacionEmailConsumer escucha la cola con @RabbitListener y arma un correo con resultado y puntaje.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83680" y="3154680"/>
            <a:ext cx="4800600" cy="1554480"/>
          </a:xfrm>
          <a:prstGeom prst="roundRect">
            <a:avLst>
              <a:gd name="adj" fmla="val 3529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6766560" y="3291840"/>
            <a:ext cx="44348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[RABBITMQ][CORREO SIMULADO]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Para: demo@local.test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Asunto: Resultado de evaluación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scoring - Solicitud 10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0" y="544068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9FB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defecto el envío SMTP está desactivado; se activa con SCORING_EMAIL_ENABLED=true.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Auditoría inmutable de evaluaciones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A4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de salida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KafkaAuditoriaScoringPublisher publica el evento EVALUACION_SCORING_COMPLETADA usando el id de solicitud como key.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23160" y="3337560"/>
            <a:ext cx="3291840" cy="320040"/>
          </a:xfrm>
          <a:prstGeom prst="roundRect">
            <a:avLst>
              <a:gd name="adj" fmla="val 14286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2514600" y="333756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scoring.evaluaciones.auditoria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4892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del evento: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425196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C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eventId · tipoEvento · fechaEvento · idEvaluacion · idSolicitud · puntajeTotal · resultado · estado · versionModelo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5440680"/>
            <a:ext cx="4892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Separada de las tablas y colecciones funcionales: no altera el modelo de scoring actual.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Shape 14"/>
          <p:cNvSpPr/>
          <p:nvPr/>
        </p:nvSpPr>
        <p:spPr>
          <a:xfrm>
            <a:off x="6583680" y="1737360"/>
            <a:ext cx="457200" cy="45720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658368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178040" y="173736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de entrada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3680" y="237744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AuditoriaScoringConsumer escribe cada evento como una línea JSON en un archivo append-only.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0" y="3063240"/>
            <a:ext cx="4800600" cy="914400"/>
          </a:xfrm>
          <a:prstGeom prst="roundRect">
            <a:avLst>
              <a:gd name="adj" fmla="val 6000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1" name="Text 19"/>
          <p:cNvSpPr/>
          <p:nvPr/>
        </p:nvSpPr>
        <p:spPr>
          <a:xfrm>
            <a:off x="6766560" y="3063240"/>
            <a:ext cx="4434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/app/audit/auditoria-scoring.jsonl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0" y="4160520"/>
            <a:ext cx="4800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AEBE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Persistido en el volumen Docker motor_scoring_audit_data — sobrevive a reinicios del contenedor.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0" y="553212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9FB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[KAFKA][AUDITORIA] Evento ... registrado para solicitud 10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decorador que conecta todo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49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PublicarEventosEvaluacionUseCase implementa la misma interfaz que el caso de uso original y lo envuelve: ejecuta el scoring, publica los eventos, y devuelve exactamente el mismo resultado.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256032" cy="256032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761488"/>
            <a:ext cx="4983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Decorator: mismo contrato, comportamiento extendido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401568"/>
            <a:ext cx="256032" cy="256032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548640" y="340156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328416"/>
            <a:ext cx="4983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modifica EjecutarEvaluacionScoringService ni CalculadorScoring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968496"/>
            <a:ext cx="256032" cy="256032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548640" y="396849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3895344"/>
            <a:ext cx="4983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Composition Root (OnionBeanConfiguration) decide si se activa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535424"/>
            <a:ext cx="256032" cy="256032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548640" y="4535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462272"/>
            <a:ext cx="4983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@ConditionalOnProperty se puede desactivar sin recompilar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63640" y="1371600"/>
            <a:ext cx="5394960" cy="4846320"/>
          </a:xfrm>
          <a:prstGeom prst="roundRect">
            <a:avLst>
              <a:gd name="adj" fmla="val 1887"/>
            </a:avLst>
          </a:prstGeom>
          <a:solidFill>
            <a:srgbClr val="F4F7F9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6583680" y="169164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6766560" y="1691640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823960" y="220370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237744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6766560" y="2377440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EjecutarEvaluacionScoringUseCase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23960" y="288950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83680" y="306324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1C8C99"/>
          </a:solidFill>
          <a:ln/>
          <a:effectLst>
            <a:outerShdw blurRad="63500" dist="25400" dir="5400000" algn="bl" rotWithShape="0">
              <a:srgbClr val="116670">
                <a:alpha val="30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6766560" y="3063240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PublicarEventosEvaluacionUseCase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823960" y="357530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583680" y="374904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8" name="Text 26"/>
          <p:cNvSpPr/>
          <p:nvPr/>
        </p:nvSpPr>
        <p:spPr>
          <a:xfrm>
            <a:off x="6766560" y="3749040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TransactionalEjecutarEvaluacionScoringUseCase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23960" y="426110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583680" y="443484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/>
          <p:nvPr/>
        </p:nvSpPr>
        <p:spPr>
          <a:xfrm>
            <a:off x="6766560" y="4434840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EjecutarEvaluacionScoringService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823960" y="494690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583680" y="512064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4" name="Text 32"/>
          <p:cNvSpPr/>
          <p:nvPr/>
        </p:nvSpPr>
        <p:spPr>
          <a:xfrm>
            <a:off x="6766560" y="5120640"/>
            <a:ext cx="4389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RabbitMQ  +  Kafka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petición HTTP a la auditoría persistida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→ POST /evaluar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828800" y="2276856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368296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685800" y="2368296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+ Caso de uso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828800" y="295351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044952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685800" y="3044952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+ Persistencia (H2/MongoDB)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828800" y="3630168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721608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685800" y="372160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4535424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685800" y="4535424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HTTP al cliente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4720" y="3657600"/>
            <a:ext cx="914400" cy="0"/>
          </a:xfrm>
          <a:prstGeom prst="line">
            <a:avLst/>
          </a:prstGeom>
          <a:noFill/>
          <a:ln w="19050">
            <a:solidFill>
              <a:srgbClr val="1C8C99"/>
            </a:solidFill>
            <a:prstDash val="dash"/>
          </a:ln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4709160" y="196596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 w="1270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9" name="Shape 17"/>
          <p:cNvSpPr/>
          <p:nvPr/>
        </p:nvSpPr>
        <p:spPr>
          <a:xfrm>
            <a:off x="4937760" y="2167128"/>
            <a:ext cx="411480" cy="41148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0" name="Text 18"/>
          <p:cNvSpPr/>
          <p:nvPr/>
        </p:nvSpPr>
        <p:spPr>
          <a:xfrm>
            <a:off x="4937760" y="21671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486400" y="21488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83480" y="265176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7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scoring.notificaciones.email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7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NotificacionEmailConsumer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7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correo simulado en logs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09160" y="3657600"/>
            <a:ext cx="3246120" cy="1417320"/>
          </a:xfrm>
          <a:prstGeom prst="roundRect">
            <a:avLst>
              <a:gd name="adj" fmla="val 5161"/>
            </a:avLst>
          </a:prstGeom>
          <a:solidFill>
            <a:srgbClr val="1B2A4A"/>
          </a:solidFill>
          <a:ln w="1270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24" name="Shape 22"/>
          <p:cNvSpPr/>
          <p:nvPr/>
        </p:nvSpPr>
        <p:spPr>
          <a:xfrm>
            <a:off x="4937760" y="3858768"/>
            <a:ext cx="411480" cy="41148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Shape 23"/>
          <p:cNvSpPr/>
          <p:nvPr/>
        </p:nvSpPr>
        <p:spPr>
          <a:xfrm>
            <a:off x="5052974" y="4031590"/>
            <a:ext cx="53492" cy="1234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6" name="Shape 24"/>
          <p:cNvSpPr/>
          <p:nvPr/>
        </p:nvSpPr>
        <p:spPr>
          <a:xfrm>
            <a:off x="5143500" y="3957523"/>
            <a:ext cx="53492" cy="19751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7" name="Shape 25"/>
          <p:cNvSpPr/>
          <p:nvPr/>
        </p:nvSpPr>
        <p:spPr>
          <a:xfrm>
            <a:off x="5234026" y="3998671"/>
            <a:ext cx="53492" cy="15636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8" name="Text 26"/>
          <p:cNvSpPr/>
          <p:nvPr/>
        </p:nvSpPr>
        <p:spPr>
          <a:xfrm>
            <a:off x="5486400" y="3840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983480" y="43434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7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scoring.evaluaciones.auditoria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7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AuditoriaScoringConsumer</a:t>
            </a:r>
            <a:endParaRPr lang="en-US" sz="9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7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auditoria-scoring.jsonl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74720" y="2743200"/>
            <a:ext cx="1234440" cy="0"/>
          </a:xfrm>
          <a:prstGeom prst="line">
            <a:avLst/>
          </a:prstGeom>
          <a:noFill/>
          <a:ln w="15875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1" name="Shape 29"/>
          <p:cNvSpPr/>
          <p:nvPr/>
        </p:nvSpPr>
        <p:spPr>
          <a:xfrm>
            <a:off x="3474720" y="2743200"/>
            <a:ext cx="1234440" cy="960120"/>
          </a:xfrm>
          <a:prstGeom prst="line">
            <a:avLst/>
          </a:prstGeom>
          <a:noFill/>
          <a:ln w="15875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32" name="Shape 30"/>
          <p:cNvSpPr/>
          <p:nvPr/>
        </p:nvSpPr>
        <p:spPr>
          <a:xfrm>
            <a:off x="8275320" y="1965960"/>
            <a:ext cx="3337560" cy="3108960"/>
          </a:xfrm>
          <a:prstGeom prst="roundRect">
            <a:avLst>
              <a:gd name="adj" fmla="val 2941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3" name="Text 31"/>
          <p:cNvSpPr/>
          <p:nvPr/>
        </p:nvSpPr>
        <p:spPr>
          <a:xfrm>
            <a:off x="8549640" y="21945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total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549640" y="2606040"/>
            <a:ext cx="2788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ramas se ejecutan después del COMMIT. La Web no espera, no hace polling y no cambia de contrato.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549640" y="370332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9F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falla en RabbitMQ o Kafka no revierte una evaluación ya persistida.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fallo de mensajería nunca revierte una evaluación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PublicarEventosEvaluacionUseCase captura cada publicación en su propio try/catch. El resultado del scoring ya fue devuelto por el caso de uso transaccional antes de que RabbitMQ o Kafka entren en juego.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11064240" cy="1874520"/>
          </a:xfrm>
          <a:prstGeom prst="roundRect">
            <a:avLst>
              <a:gd name="adj" fmla="val 3902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10424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notificaciones.publicar(evento);           try {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catch (RuntimeException ex) {                    auditoria.publicar(evento);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log.error("La evaluación {} fue completada, "  } catch (RuntimeException ex) {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"pero no se pudo publicar "                  log.error("... no se pudo publicar la auditoría Kafka.", ...);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 "la notificación RabbitMQ.", ...);       }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46177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Text 6"/>
          <p:cNvSpPr/>
          <p:nvPr/>
        </p:nvSpPr>
        <p:spPr>
          <a:xfrm>
            <a:off x="548640" y="472744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52120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37560" y="46177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3337560" y="472744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74720" y="52120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(MongoDB/H2)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6126480" y="472744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63640" y="52120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915400" y="46177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7" name="Text 15"/>
          <p:cNvSpPr/>
          <p:nvPr/>
        </p:nvSpPr>
        <p:spPr>
          <a:xfrm>
            <a:off x="8915400" y="472744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052560" y="521208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devuelto al cliente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evaluación se considera exitosa aunque RabbitMQ falle.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Mensajería activable por propiedad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49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Composition Root expone tres beans condicionados por motor-scoring.messaging.enabled, sin recompilar nada para desactivar RabbitMQ y Kafka.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5349240" cy="777240"/>
          </a:xfrm>
          <a:prstGeom prst="roundRect">
            <a:avLst>
              <a:gd name="adj" fmla="val 8235"/>
            </a:avLst>
          </a:prstGeom>
          <a:solidFill>
            <a:srgbClr val="F4F7F9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6" name="Text 4"/>
          <p:cNvSpPr/>
          <p:nvPr/>
        </p:nvSpPr>
        <p:spPr>
          <a:xfrm>
            <a:off x="731520" y="258775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evaluarTransactional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28986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core transaccional, siempre presente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5349240" cy="777240"/>
          </a:xfrm>
          <a:prstGeom prst="roundRect">
            <a:avLst>
              <a:gd name="adj" fmla="val 8235"/>
            </a:avLst>
          </a:prstGeom>
          <a:solidFill>
            <a:srgbClr val="F4F7F9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731520" y="350215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evaluarConMensajeria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31520" y="38130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@Primary si messaging.enabled = true (default)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4343400"/>
            <a:ext cx="5349240" cy="777240"/>
          </a:xfrm>
          <a:prstGeom prst="roundRect">
            <a:avLst>
              <a:gd name="adj" fmla="val 8235"/>
            </a:avLst>
          </a:prstGeom>
          <a:solidFill>
            <a:srgbClr val="F4F7F9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2" name="Text 10"/>
          <p:cNvSpPr/>
          <p:nvPr/>
        </p:nvSpPr>
        <p:spPr>
          <a:xfrm>
            <a:off x="731520" y="441655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evaluarSinMensajeria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31520" y="472744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@Primary si messaging.enabled = false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1371600"/>
            <a:ext cx="5394960" cy="4846320"/>
          </a:xfrm>
          <a:prstGeom prst="roundRect">
            <a:avLst>
              <a:gd name="adj" fmla="val 1887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5" name="Text 13"/>
          <p:cNvSpPr/>
          <p:nvPr/>
        </p:nvSpPr>
        <p:spPr>
          <a:xfrm>
            <a:off x="658368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application.yml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201168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motor-scoring: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messaging: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enabled: ${SCORING_MESSAGING_ENABLED:true}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rabbitmq: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exchange: ${..._EXCHANGE:scoring.events}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email-queue: ${..._EMAIL_QUEUE:...}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kafka: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audit-topic: ${..._AUDIT_TOPIC:...}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audit: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file: ${SCORING_AUDIT_FILE: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./data/audit/auditoria-scoring.jsonl}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notification: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email: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D7E4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enabled: ${SCORING_EMAIL_ENABLED:false}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Y GOBIERNO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 y reglas ArchUnit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1B2A4A">
                <a:alpha val="12000"/>
              </a:srgbClr>
            </a:outerShdw>
          </a:effectLst>
        </p:spPr>
        <p:txBody>
          <a:bodyPr/>
          <a:lstStyle/>
          <a:p>
            <a:endParaRPr lang="es-PE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6" name="Shape 4"/>
          <p:cNvSpPr/>
          <p:nvPr/>
        </p:nvSpPr>
        <p:spPr>
          <a:xfrm>
            <a:off x="822960" y="1911096"/>
            <a:ext cx="1371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Shape 5"/>
          <p:cNvSpPr/>
          <p:nvPr/>
        </p:nvSpPr>
        <p:spPr>
          <a:xfrm>
            <a:off x="1106424" y="1911096"/>
            <a:ext cx="1371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8" name="Shape 6"/>
          <p:cNvSpPr/>
          <p:nvPr/>
        </p:nvSpPr>
        <p:spPr>
          <a:xfrm>
            <a:off x="964692" y="2066544"/>
            <a:ext cx="1371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C8C99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9" name="Text 7"/>
          <p:cNvSpPr/>
          <p:nvPr/>
        </p:nvSpPr>
        <p:spPr>
          <a:xfrm>
            <a:off x="1417320" y="1737360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servicios nuevos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423160"/>
            <a:ext cx="4892040" cy="731520"/>
          </a:xfrm>
          <a:prstGeom prst="roundRect">
            <a:avLst>
              <a:gd name="adj" fmla="val 7500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1" name="Text 9"/>
          <p:cNvSpPr/>
          <p:nvPr/>
        </p:nvSpPr>
        <p:spPr>
          <a:xfrm>
            <a:off x="1005840" y="2496312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motor-scoring-rabbitmq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05840" y="2788920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rabbitmq:4-management · puertos 5672 / 15672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3291840"/>
            <a:ext cx="4892040" cy="731520"/>
          </a:xfrm>
          <a:prstGeom prst="roundRect">
            <a:avLst>
              <a:gd name="adj" fmla="val 7500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4" name="Text 12"/>
          <p:cNvSpPr/>
          <p:nvPr/>
        </p:nvSpPr>
        <p:spPr>
          <a:xfrm>
            <a:off x="1005840" y="3364992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motor-scoring-kafka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05840" y="3657600"/>
            <a:ext cx="4526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apache/kafka:4.3.1 · modo KRaft, sin ZooKeeper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420624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API depende de rabbitmq (service_healthy) y kafka (service_started). La auditoría se persiste en el volumen motor_scoring_audit_data.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146304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8" name="Shape 16"/>
          <p:cNvSpPr/>
          <p:nvPr/>
        </p:nvSpPr>
        <p:spPr>
          <a:xfrm>
            <a:off x="6583680" y="1737360"/>
            <a:ext cx="457200" cy="457200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19" name="Text 17"/>
          <p:cNvSpPr/>
          <p:nvPr/>
        </p:nvSpPr>
        <p:spPr>
          <a:xfrm>
            <a:off x="658368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178040" y="1737360"/>
            <a:ext cx="4160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ArchUnit ampliadas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2423160"/>
            <a:ext cx="237744" cy="237744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2" name="Text 20"/>
          <p:cNvSpPr/>
          <p:nvPr/>
        </p:nvSpPr>
        <p:spPr>
          <a:xfrm>
            <a:off x="6583680" y="242316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67728" y="23774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7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no depende de rabbitmq ni kafka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0" y="3081528"/>
            <a:ext cx="237744" cy="237744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5" name="Text 23"/>
          <p:cNvSpPr/>
          <p:nvPr/>
        </p:nvSpPr>
        <p:spPr>
          <a:xfrm>
            <a:off x="6583680" y="308152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67728" y="3035808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7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 no depende de kafka, y viceversa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3739896"/>
            <a:ext cx="237744" cy="237744"/>
          </a:xfrm>
          <a:prstGeom prst="ellipse">
            <a:avLst/>
          </a:prstGeom>
          <a:solidFill>
            <a:srgbClr val="1C8C99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28" name="Text 26"/>
          <p:cNvSpPr/>
          <p:nvPr/>
        </p:nvSpPr>
        <p:spPr>
          <a:xfrm>
            <a:off x="6583680" y="373989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967728" y="3694176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7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adapters "in" no dependen de los "out" de su mismo broker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0" y="4489704"/>
            <a:ext cx="4800600" cy="1051560"/>
          </a:xfrm>
          <a:prstGeom prst="roundRect">
            <a:avLst>
              <a:gd name="adj" fmla="val 5217"/>
            </a:avLst>
          </a:prstGeom>
          <a:solidFill>
            <a:srgbClr val="121D33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1" name="Text 29"/>
          <p:cNvSpPr/>
          <p:nvPr/>
        </p:nvSpPr>
        <p:spPr>
          <a:xfrm>
            <a:off x="6766560" y="4599432"/>
            <a:ext cx="44348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noClasses().that().resideInAPackage("..rabbitmq..")</a:t>
            </a:r>
            <a:endParaRPr lang="en-US" sz="9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.should().dependOnClassesThat()</a:t>
            </a:r>
            <a:endParaRPr lang="en-US" sz="9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9F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.resideInAPackage("..kafka..");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Diagrama de arquitectura completo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009394" y="1161288"/>
            <a:ext cx="8170164" cy="5495544"/>
          </a:xfrm>
          <a:prstGeom prst="roundRect">
            <a:avLst>
              <a:gd name="adj" fmla="val 998"/>
            </a:avLst>
          </a:prstGeom>
          <a:solidFill>
            <a:srgbClr val="F4F7F9"/>
          </a:solidFill>
          <a:ln w="12700">
            <a:solidFill>
              <a:srgbClr val="D6DEE7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pic>
        <p:nvPicPr>
          <p:cNvPr id="5" name="Image 0" descr="/home/claude/work/ppt/diagrama_arquitec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2546" y="1234440"/>
            <a:ext cx="8023860" cy="5349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097280"/>
            <a:ext cx="4114800" cy="411480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3" name="Shape 1"/>
          <p:cNvSpPr/>
          <p:nvPr/>
        </p:nvSpPr>
        <p:spPr>
          <a:xfrm>
            <a:off x="-2651760" y="5029200"/>
            <a:ext cx="2743200" cy="2743200"/>
          </a:xfrm>
          <a:prstGeom prst="ellipse">
            <a:avLst/>
          </a:prstGeom>
          <a:solidFill>
            <a:srgbClr val="116670"/>
          </a:solidFill>
          <a:ln/>
        </p:spPr>
        <p:txBody>
          <a:bodyPr/>
          <a:lstStyle/>
          <a:p>
            <a:endParaRPr lang="es-PE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amplió el sistema sin comprometer la Arquitectura Hexagonal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257800" cy="1737360"/>
          </a:xfrm>
          <a:prstGeom prst="roundRect">
            <a:avLst>
              <a:gd name="adj" fmla="val 5263"/>
            </a:avLst>
          </a:prstGeom>
          <a:solidFill>
            <a:srgbClr val="1E3054"/>
          </a:solidFill>
          <a:ln w="12700">
            <a:solidFill>
              <a:srgbClr val="11667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 &amp; Adapters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 y Kafka son adapters externos; Application solo conoce interfaces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2240280"/>
            <a:ext cx="5257800" cy="1737360"/>
          </a:xfrm>
          <a:prstGeom prst="roundRect">
            <a:avLst>
              <a:gd name="adj" fmla="val 5263"/>
            </a:avLst>
          </a:prstGeom>
          <a:solidFill>
            <a:srgbClr val="1E3054"/>
          </a:solidFill>
          <a:ln w="12700">
            <a:solidFill>
              <a:srgbClr val="11667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0" name="Text 8"/>
          <p:cNvSpPr/>
          <p:nvPr/>
        </p:nvSpPr>
        <p:spPr>
          <a:xfrm>
            <a:off x="6446520" y="246888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Decorator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92608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PublicarEventosEvaluacionUseCase extiende comportamiento sin modificar el core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5257800" cy="1737360"/>
          </a:xfrm>
          <a:prstGeom prst="roundRect">
            <a:avLst>
              <a:gd name="adj" fmla="val 5263"/>
            </a:avLst>
          </a:prstGeom>
          <a:solidFill>
            <a:srgbClr val="1E3054"/>
          </a:solidFill>
          <a:ln w="12700">
            <a:solidFill>
              <a:srgbClr val="11667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3" name="Text 11"/>
          <p:cNvSpPr/>
          <p:nvPr/>
        </p:nvSpPr>
        <p:spPr>
          <a:xfrm>
            <a:off x="868680" y="44348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Open/Closed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68680" y="489204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se abrió a nueva funcionalidad sin cerrar ni tocar código existente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26480" y="4206240"/>
            <a:ext cx="5257800" cy="1737360"/>
          </a:xfrm>
          <a:prstGeom prst="roundRect">
            <a:avLst>
              <a:gd name="adj" fmla="val 5263"/>
            </a:avLst>
          </a:prstGeom>
          <a:solidFill>
            <a:srgbClr val="1E3054"/>
          </a:solidFill>
          <a:ln w="12700">
            <a:solidFill>
              <a:srgbClr val="116670"/>
            </a:solidFill>
            <a:prstDash val="solid"/>
          </a:ln>
        </p:spPr>
        <p:txBody>
          <a:bodyPr/>
          <a:lstStyle/>
          <a:p>
            <a:endParaRPr lang="es-PE"/>
          </a:p>
        </p:txBody>
      </p:sp>
      <p:sp>
        <p:nvSpPr>
          <p:cNvPr id="16" name="Text 14"/>
          <p:cNvSpPr/>
          <p:nvPr/>
        </p:nvSpPr>
        <p:spPr>
          <a:xfrm>
            <a:off x="6446520" y="44348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C8C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Aislamiento de fallos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6446520" y="489204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efectos secundarios asíncronos nunca comprometen la transacción principal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 Scoring Crediticio · Arquitectura Hexagonal + RabbitMQ + Kafka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6599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1582</Words>
  <Application>Microsoft Office PowerPoint</Application>
  <PresentationFormat>Widescreen</PresentationFormat>
  <Paragraphs>309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José Antonio Julca Díaz</cp:lastModifiedBy>
  <cp:revision>2</cp:revision>
  <dcterms:created xsi:type="dcterms:W3CDTF">2026-08-23T17:17:16Z</dcterms:created>
  <dcterms:modified xsi:type="dcterms:W3CDTF">2026-08-24T23:53:13Z</dcterms:modified>
</cp:coreProperties>
</file>